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 txBox="1"/>
          <p:nvPr/>
        </p:nvSpPr>
        <p:spPr>
          <a:xfrm>
            <a:off x="0" y="2757488"/>
            <a:ext cx="12192000" cy="739141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400">
                <a:solidFill>
                  <a:srgbClr val="FFFFFF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Manpower Planning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 txBox="1"/>
          <p:nvPr/>
        </p:nvSpPr>
        <p:spPr>
          <a:xfrm>
            <a:off x="607693" y="507563"/>
            <a:ext cx="11176636" cy="655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Manpower planning is the process which includes </a:t>
            </a:r>
            <a:r>
              <a:rPr b="1" u="sng"/>
              <a:t>forecasting</a:t>
            </a:r>
            <a:r>
              <a:rPr b="1"/>
              <a:t>, </a:t>
            </a:r>
            <a:r>
              <a:rPr b="1" u="sng"/>
              <a:t>developing and controlling </a:t>
            </a:r>
            <a:r>
              <a:t>by which a firm ensures that it has:-</a:t>
            </a:r>
          </a:p>
          <a:p>
            <a:pPr lvl="1" marL="742950" indent="-285750">
              <a:buSzPct val="100000"/>
              <a:buFont typeface="Arial"/>
              <a:buChar char="•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The right number of people.</a:t>
            </a:r>
          </a:p>
          <a:p>
            <a:pPr lvl="1" marL="742950" indent="-285750">
              <a:buSzPct val="100000"/>
              <a:buFont typeface="Arial"/>
              <a:buChar char="•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The right kind of people</a:t>
            </a:r>
          </a:p>
          <a:p>
            <a:pPr lvl="1" marL="742950" indent="-285750">
              <a:buSzPct val="100000"/>
              <a:buFont typeface="Arial"/>
              <a:buChar char="•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At right place</a:t>
            </a:r>
          </a:p>
          <a:p>
            <a:pPr lvl="1" marL="742950" indent="-285750">
              <a:buSzPct val="100000"/>
              <a:buFont typeface="Arial"/>
              <a:buChar char="•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At right time.</a:t>
            </a:r>
          </a:p>
          <a:p>
            <a:pPr marL="285750" indent="-285750">
              <a:buSzPct val="100000"/>
              <a:buChar char="✓"/>
              <a:defRPr sz="2000"/>
            </a:pPr>
          </a:p>
          <a:p>
            <a:pPr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Manpower planning is also known as </a:t>
            </a:r>
            <a:r>
              <a:rPr b="1"/>
              <a:t>personnel planning </a:t>
            </a:r>
            <a:r>
              <a:t>or </a:t>
            </a:r>
            <a:r>
              <a:rPr b="1"/>
              <a:t>human resource planning.</a:t>
            </a:r>
            <a:endParaRPr b="1"/>
          </a:p>
          <a:p>
            <a:pPr>
              <a:defRPr b="1" sz="2000"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Manpower planning involves two stages:</a:t>
            </a:r>
          </a:p>
          <a:p>
            <a:pPr lvl="1" marL="800100" indent="-342900">
              <a:buSzPct val="100000"/>
              <a:buFont typeface="Arial"/>
              <a:buChar char="•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Planning of manpower requirements</a:t>
            </a:r>
          </a:p>
          <a:p>
            <a:pPr lvl="1" marL="800100" indent="-342900">
              <a:buSzPct val="100000"/>
              <a:buFont typeface="Arial"/>
              <a:buChar char="•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Planning of manpower supplies</a:t>
            </a:r>
          </a:p>
          <a:p>
            <a:pPr lvl="1" indent="0">
              <a:defRPr b="1" sz="2000"/>
            </a:pPr>
          </a:p>
          <a:p>
            <a:pPr lvl="1" indent="0">
              <a:defRPr sz="2000" u="sng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Objectives</a:t>
            </a:r>
            <a:r>
              <a:rPr u="none"/>
              <a:t>:</a:t>
            </a:r>
            <a:endParaRPr u="none"/>
          </a:p>
          <a:p>
            <a:pPr lvl="1" marL="742950" indent="-285750">
              <a:buSzPct val="100000"/>
              <a:buFont typeface="Arial"/>
              <a:buChar char="•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To utilize the present employees fully.</a:t>
            </a:r>
          </a:p>
          <a:p>
            <a:pPr lvl="1" marL="742950" indent="-285750">
              <a:buSzPct val="100000"/>
              <a:buFont typeface="Arial"/>
              <a:buChar char="•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To fill up future manpower requirements.</a:t>
            </a:r>
          </a:p>
          <a:p>
            <a:pPr lvl="1" marL="742950" indent="-285750">
              <a:buSzPct val="100000"/>
              <a:buFont typeface="Arial"/>
              <a:buChar char="•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To check the development of the employees for organizational growth.</a:t>
            </a:r>
          </a:p>
          <a:p>
            <a:pPr lvl="1" marL="742950" indent="-285750">
              <a:buSzPct val="100000"/>
              <a:buFont typeface="Arial"/>
              <a:buChar char="•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To achieve organizational goals in an efficient way.</a:t>
            </a:r>
          </a:p>
          <a:p>
            <a:pPr lvl="1" marL="742950" indent="-285750">
              <a:buSzPct val="100000"/>
              <a:buFont typeface="Arial"/>
              <a:buChar char="•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To manage and utilize resources properly and effectively.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 txBox="1"/>
          <p:nvPr/>
        </p:nvSpPr>
        <p:spPr>
          <a:xfrm>
            <a:off x="512867" y="329684"/>
            <a:ext cx="8642562" cy="263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lvl="1" indent="0"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lvl="1" indent="0">
              <a:defRPr u="sng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Importance:</a:t>
            </a:r>
          </a:p>
          <a:p>
            <a:pPr lvl="1" marL="800100" indent="-342900">
              <a:buSzPct val="100000"/>
              <a:buAutoNum type="arabicPeriod" startAt="1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The first step towards manpower management.</a:t>
            </a:r>
          </a:p>
          <a:p>
            <a:pPr lvl="1" marL="800100" indent="-342900">
              <a:buSzPct val="100000"/>
              <a:buAutoNum type="arabicPeriod" startAt="1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Using available assets for the implementation of the business plans.</a:t>
            </a:r>
          </a:p>
          <a:p>
            <a:pPr lvl="1" marL="800100" indent="-342900">
              <a:buSzPct val="100000"/>
              <a:buAutoNum type="arabicPeriod" startAt="1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Coordinates and controls various activities in the organization.</a:t>
            </a:r>
          </a:p>
          <a:p>
            <a:pPr lvl="1" marL="800100" indent="-342900">
              <a:buSzPct val="100000"/>
              <a:buAutoNum type="arabicPeriod" startAt="1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Efficient utilization &amp; skilled labour.</a:t>
            </a:r>
          </a:p>
          <a:p>
            <a:pPr lvl="1" marL="800100" indent="-342900">
              <a:buSzPct val="100000"/>
              <a:buAutoNum type="arabicPeriod" startAt="1"/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Higher productivity.</a:t>
            </a:r>
          </a:p>
        </p:txBody>
      </p:sp>
      <p:pic>
        <p:nvPicPr>
          <p:cNvPr id="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63810" y="3566321"/>
            <a:ext cx="8139553" cy="2686585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0098" y="928687"/>
            <a:ext cx="10723148" cy="39862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8224" y="476248"/>
            <a:ext cx="10172735" cy="59102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0122" y="366711"/>
            <a:ext cx="10272715" cy="60627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