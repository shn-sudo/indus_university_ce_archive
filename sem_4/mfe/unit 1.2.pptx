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Process of Selection 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533400"/>
            <a:ext cx="7772400" cy="3067051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  <a:latin typeface="Algerian"/>
                <a:ea typeface="Algerian"/>
                <a:cs typeface="Algerian"/>
                <a:sym typeface="Algerian"/>
              </a:defRPr>
            </a:pPr>
            <a:r>
              <a:rPr>
                <a:solidFill>
                  <a:srgbClr val="00B050"/>
                </a:solidFill>
              </a:rPr>
              <a:t>Recruitment &amp; Selection </a:t>
            </a:r>
            <a:br>
              <a:rPr>
                <a:solidFill>
                  <a:srgbClr val="00B050"/>
                </a:solidFill>
              </a:rPr>
            </a:br>
            <a:r>
              <a:rPr>
                <a:solidFill>
                  <a:srgbClr val="00B050"/>
                </a:solidFill>
              </a:rPr>
              <a:t>Concept and Process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896111">
              <a:defRPr sz="3822" u="sng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Recruitment </a:t>
            </a:r>
            <a:br/>
            <a:r>
              <a:rPr u="none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rPr>
              <a:t>Definition </a:t>
            </a:r>
          </a:p>
        </p:txBody>
      </p:sp>
      <p:sp>
        <p:nvSpPr>
          <p:cNvPr id="9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buSzTx/>
              <a:buNone/>
            </a:pPr>
            <a:r>
              <a:t>Edwin Flippo-</a:t>
            </a:r>
          </a:p>
          <a:p>
            <a:pPr algn="just">
              <a:lnSpc>
                <a:spcPct val="90000"/>
              </a:lnSpc>
              <a:buSzTx/>
              <a:buNone/>
            </a:pPr>
            <a:r>
              <a:t>   ‘Recruitment is the process of </a:t>
            </a:r>
            <a:r>
              <a:rPr b="1"/>
              <a:t>searching</a:t>
            </a:r>
            <a:r>
              <a:t> for </a:t>
            </a:r>
            <a:r>
              <a:rPr b="1"/>
              <a:t>prospective employees </a:t>
            </a:r>
            <a:r>
              <a:t>and </a:t>
            </a:r>
            <a:r>
              <a:rPr b="1"/>
              <a:t>stimulating</a:t>
            </a:r>
            <a:r>
              <a:t> and </a:t>
            </a:r>
            <a:r>
              <a:rPr b="1"/>
              <a:t>encouraging</a:t>
            </a:r>
            <a:r>
              <a:t> them to </a:t>
            </a:r>
            <a:r>
              <a:rPr b="1"/>
              <a:t>apply for job </a:t>
            </a:r>
            <a:r>
              <a:t>in the organisation.’ </a:t>
            </a:r>
          </a:p>
          <a:p>
            <a:pPr algn="just">
              <a:lnSpc>
                <a:spcPct val="90000"/>
              </a:lnSpc>
            </a:pPr>
            <a:r>
              <a:t>It is process to search for prospective employees.</a:t>
            </a:r>
          </a:p>
          <a:p>
            <a:pPr algn="just">
              <a:lnSpc>
                <a:spcPct val="90000"/>
              </a:lnSpc>
            </a:pPr>
            <a:r>
              <a:t>It stimulates and encourages prospective employees to apply for the job.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Dale S Beach--</a:t>
            </a:r>
          </a:p>
        </p:txBody>
      </p:sp>
      <p:sp>
        <p:nvSpPr>
          <p:cNvPr id="10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algn="just">
              <a:buSzTx/>
              <a:buNone/>
            </a:pPr>
            <a:r>
              <a:t>  ‘Recruitment is the </a:t>
            </a:r>
            <a:r>
              <a:rPr b="1"/>
              <a:t>development and maintenance</a:t>
            </a:r>
            <a:r>
              <a:t> of adequate manpower resources. It involves the </a:t>
            </a:r>
            <a:r>
              <a:rPr b="1" u="sng"/>
              <a:t>creation of a pool of available labour </a:t>
            </a:r>
            <a:r>
              <a:t>upon whom the organisation can depend when it needs additional employees.’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Recruitment is a TWO way process.</a:t>
            </a:r>
          </a:p>
          <a:p>
            <a:pPr>
              <a:buSzTx/>
              <a:buNone/>
            </a:pPr>
            <a:r>
              <a:t>    Positive-------------------------Negative</a:t>
            </a:r>
          </a:p>
          <a:p>
            <a:pPr/>
            <a:r>
              <a:t>It is an attempt to bring together </a:t>
            </a:r>
          </a:p>
          <a:p>
            <a:pPr>
              <a:buSzTx/>
              <a:buNone/>
            </a:pPr>
            <a:r>
              <a:t>                                  </a:t>
            </a:r>
            <a:r>
              <a:rPr>
                <a:solidFill>
                  <a:srgbClr val="FF0000"/>
                </a:solidFill>
              </a:rPr>
              <a:t>The JOB</a:t>
            </a:r>
            <a:endParaRPr>
              <a:solidFill>
                <a:srgbClr val="FF0000"/>
              </a:solidFill>
            </a:endParaRPr>
          </a:p>
          <a:p>
            <a:pPr>
              <a:buSzTx/>
              <a:buNone/>
            </a:pPr>
            <a:r>
              <a:t>                                         &amp;</a:t>
            </a:r>
          </a:p>
          <a:p>
            <a:pPr>
              <a:buSzTx/>
              <a:buNone/>
            </a:pPr>
            <a:r>
              <a:t>                              </a:t>
            </a:r>
            <a:r>
              <a:rPr>
                <a:solidFill>
                  <a:srgbClr val="92D050"/>
                </a:solidFill>
              </a:rPr>
              <a:t>The JOB seeker</a:t>
            </a:r>
            <a:endParaRPr>
              <a:solidFill>
                <a:srgbClr val="92D050"/>
              </a:solidFill>
            </a:endParaRPr>
          </a:p>
          <a:p>
            <a:pPr>
              <a:buSzTx/>
              <a:buNone/>
            </a:pPr>
            <a:r>
              <a:t>                     (</a:t>
            </a:r>
            <a:r>
              <a:rPr b="1"/>
              <a:t>Prospective Employees 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NEEDS OF RECRUITMENT </a:t>
            </a:r>
          </a:p>
        </p:txBody>
      </p:sp>
      <p:sp>
        <p:nvSpPr>
          <p:cNvPr id="10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Planned needs</a:t>
            </a:r>
          </a:p>
          <a:p>
            <a:pPr>
              <a:buSzTx/>
              <a:buNone/>
            </a:pPr>
            <a:r>
              <a:t>    -Change in organization</a:t>
            </a:r>
          </a:p>
          <a:p>
            <a:pPr>
              <a:buSzTx/>
              <a:buNone/>
            </a:pPr>
            <a:r>
              <a:t>    -Retirement</a:t>
            </a:r>
          </a:p>
          <a:p>
            <a:pPr/>
            <a:r>
              <a:t>Anticipated needs</a:t>
            </a:r>
          </a:p>
          <a:p>
            <a:pPr>
              <a:buSzTx/>
              <a:buNone/>
            </a:pPr>
            <a:r>
              <a:t>    -Trends in internal and external environment</a:t>
            </a:r>
          </a:p>
          <a:p>
            <a:pPr/>
            <a:r>
              <a:t>Unexpected needs </a:t>
            </a:r>
          </a:p>
          <a:p>
            <a:pPr>
              <a:buSzTx/>
              <a:buNone/>
            </a:pPr>
            <a:r>
              <a:t>    - Resignation, Deaths, Accidents, illness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 of Recruitment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SzTx/>
              <a:buNone/>
            </a:pPr>
          </a:p>
          <a:p>
            <a:pPr>
              <a:buSzTx/>
              <a:buNone/>
            </a:pPr>
          </a:p>
          <a:p>
            <a:pPr>
              <a:buSzTx/>
              <a:buNone/>
            </a:pPr>
          </a:p>
          <a:p>
            <a:pPr>
              <a:buSzTx/>
              <a:buNone/>
            </a:pPr>
            <a:r>
              <a:t>   Internal                                                   External</a:t>
            </a:r>
          </a:p>
        </p:txBody>
      </p:sp>
      <p:sp>
        <p:nvSpPr>
          <p:cNvPr id="110" name="Straight Connector 4"/>
          <p:cNvSpPr/>
          <p:nvPr/>
        </p:nvSpPr>
        <p:spPr>
          <a:xfrm>
            <a:off x="1295400" y="1905000"/>
            <a:ext cx="6324601" cy="1588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traight Arrow Connector 7"/>
          <p:cNvSpPr/>
          <p:nvPr/>
        </p:nvSpPr>
        <p:spPr>
          <a:xfrm flipH="1">
            <a:off x="1295399" y="1905793"/>
            <a:ext cx="796" cy="913607"/>
          </a:xfrm>
          <a:prstGeom prst="line">
            <a:avLst/>
          </a:prstGeom>
          <a:ln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traight Arrow Connector 13"/>
          <p:cNvSpPr/>
          <p:nvPr/>
        </p:nvSpPr>
        <p:spPr>
          <a:xfrm flipH="1">
            <a:off x="7619999" y="1905793"/>
            <a:ext cx="795" cy="913607"/>
          </a:xfrm>
          <a:prstGeom prst="line">
            <a:avLst/>
          </a:prstGeom>
          <a:ln>
            <a:solidFill>
              <a:srgbClr val="4A7EB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 of Recruitment-Internal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Present employees—Transfer and promotion </a:t>
            </a:r>
          </a:p>
          <a:p>
            <a:pPr/>
            <a:r>
              <a:t>Employees referrals</a:t>
            </a:r>
          </a:p>
          <a:p>
            <a:pPr/>
            <a:r>
              <a:t>Former Employees</a:t>
            </a:r>
          </a:p>
          <a:p>
            <a:pPr/>
            <a:r>
              <a:t>Previous applicants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u="sng"/>
            </a:lvl1pPr>
          </a:lstStyle>
          <a:p>
            <a:pPr/>
            <a:r>
              <a:t>Source of Recruitment-External</a:t>
            </a:r>
          </a:p>
        </p:txBody>
      </p:sp>
      <p:sp>
        <p:nvSpPr>
          <p:cNvPr id="118" name="Content Placeholder 2"/>
          <p:cNvSpPr txBox="1"/>
          <p:nvPr>
            <p:ph type="body" idx="1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Advertisement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Management consultants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Employment excahanges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Educational institutes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Similar/ competitors organisation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Campus recruitment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Data Banks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Casual Callers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Trade unions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Unsolicited applicants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Labour contractors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Gate recruitment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Displaced persons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Recruitment agencies</a:t>
            </a:r>
          </a:p>
          <a:p>
            <a:pPr algn="ctr">
              <a:lnSpc>
                <a:spcPct val="80000"/>
              </a:lnSpc>
              <a:spcBef>
                <a:spcPts val="500"/>
              </a:spcBef>
              <a:defRPr sz="2200"/>
            </a:pPr>
            <a:r>
              <a:t>Walk in /  talk in/  write 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ts val="1100"/>
              </a:spcBef>
              <a:buSzTx/>
              <a:buNone/>
              <a:defRPr sz="4800">
                <a:solidFill>
                  <a:srgbClr val="FF0000"/>
                </a:solidFill>
              </a:defRPr>
            </a:pPr>
            <a:r>
              <a:t>Selection </a:t>
            </a:r>
            <a:br/>
            <a:r>
              <a:t>Concept and Processes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ctr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</p:spPr>
        <p:txBody>
          <a:bodyPr/>
          <a:lstStyle/>
          <a:p>
            <a:pPr/>
            <a:r>
              <a:t>Recruitment            Selection </a:t>
            </a:r>
          </a:p>
        </p:txBody>
      </p:sp>
      <p:sp>
        <p:nvSpPr>
          <p:cNvPr id="123" name="Subtitle 2"/>
          <p:cNvSpPr txBox="1"/>
          <p:nvPr>
            <p:ph type="subTitle" idx="1"/>
          </p:nvPr>
        </p:nvSpPr>
        <p:spPr>
          <a:xfrm>
            <a:off x="0" y="1295400"/>
            <a:ext cx="9144000" cy="5334000"/>
          </a:xfrm>
          <a:prstGeom prst="rect">
            <a:avLst/>
          </a:prstGeom>
          <a:gradFill>
            <a:gsLst>
              <a:gs pos="0">
                <a:schemeClr val="accent6">
                  <a:hueOff val="-456778"/>
                  <a:satOff val="8290"/>
                  <a:lumOff val="24503"/>
                </a:schemeClr>
              </a:gs>
              <a:gs pos="35000">
                <a:srgbClr val="FFDECF"/>
              </a:gs>
              <a:gs pos="100000">
                <a:schemeClr val="accent6">
                  <a:hueOff val="-556026"/>
                  <a:satOff val="8290"/>
                  <a:lumOff val="34267"/>
                </a:schemeClr>
              </a:gs>
            </a:gsLst>
            <a:lin ang="16200000"/>
          </a:gradFill>
          <a:ln w="9525">
            <a:solidFill>
              <a:srgbClr val="F69240"/>
            </a:solidFill>
            <a:round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  <a:r>
              <a:t>Recruitment is positive process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</a:p>
          <a:p>
            <a:pPr algn="just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2900">
                <a:solidFill>
                  <a:srgbClr val="000000"/>
                </a:solidFill>
              </a:defRPr>
            </a:pPr>
          </a:p>
          <a:p>
            <a:pPr algn="just"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</a:p>
          <a:p>
            <a:pPr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  <a:r>
              <a:t>     Number of Applicants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  <a:r>
              <a:t>      Recruitment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  <a:r>
              <a:t>(Recruitment is undertaken on the basis of </a:t>
            </a:r>
            <a:r>
              <a:rPr b="1"/>
              <a:t>HRP</a:t>
            </a:r>
            <a:r>
              <a:t> which provides information about </a:t>
            </a:r>
            <a:r>
              <a:rPr b="1"/>
              <a:t>number of manpower required</a:t>
            </a:r>
            <a:r>
              <a:t> at various </a:t>
            </a:r>
            <a:r>
              <a:rPr b="1"/>
              <a:t>level of management </a:t>
            </a:r>
            <a:r>
              <a:t>and </a:t>
            </a:r>
            <a:r>
              <a:rPr b="1"/>
              <a:t>skills required </a:t>
            </a:r>
            <a:r>
              <a:t>to perform job )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2900">
                <a:solidFill>
                  <a:srgbClr val="000000"/>
                </a:solidFill>
              </a:defRPr>
            </a:pPr>
            <a:r>
              <a:t>                                                   </a:t>
            </a:r>
          </a:p>
        </p:txBody>
      </p:sp>
      <p:sp>
        <p:nvSpPr>
          <p:cNvPr id="124" name="Right Arrow 6"/>
          <p:cNvSpPr/>
          <p:nvPr/>
        </p:nvSpPr>
        <p:spPr>
          <a:xfrm>
            <a:off x="4343400" y="533400"/>
            <a:ext cx="978409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7"/>
          <p:cNvSpPr/>
          <p:nvPr/>
        </p:nvSpPr>
        <p:spPr>
          <a:xfrm>
            <a:off x="3048000" y="1828800"/>
            <a:ext cx="3200400" cy="12192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3A5E8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SELECTION IS A NEGATIVE PROCESS</a:t>
            </a:r>
          </a:p>
        </p:txBody>
      </p:sp>
      <p:sp>
        <p:nvSpPr>
          <p:cNvPr id="128" name="Isosceles Triangle 6"/>
          <p:cNvSpPr/>
          <p:nvPr/>
        </p:nvSpPr>
        <p:spPr>
          <a:xfrm>
            <a:off x="1981200" y="1295400"/>
            <a:ext cx="5867400" cy="3886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0448" y="0"/>
                </a:lnTo>
                <a:lnTo>
                  <a:pt x="21600" y="21600"/>
                </a:lnTo>
                <a:close/>
              </a:path>
            </a:pathLst>
          </a:custGeom>
          <a:gradFill>
            <a:gsLst>
              <a:gs pos="0">
                <a:srgbClr val="5E437E"/>
              </a:gs>
              <a:gs pos="80000">
                <a:srgbClr val="7B58A6"/>
              </a:gs>
              <a:gs pos="100000">
                <a:srgbClr val="7B57A8"/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ectangle 7"/>
          <p:cNvSpPr txBox="1"/>
          <p:nvPr/>
        </p:nvSpPr>
        <p:spPr>
          <a:xfrm>
            <a:off x="1722120" y="3105835"/>
            <a:ext cx="6385560" cy="184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4000"/>
            </a:lvl1pPr>
          </a:lstStyle>
          <a:p>
            <a:pPr/>
            <a:r>
              <a:t>Number of Applicants reduces at every forward steps  in Selection </a:t>
            </a:r>
          </a:p>
        </p:txBody>
      </p:sp>
      <p:grpSp>
        <p:nvGrpSpPr>
          <p:cNvPr id="132" name="Rectangle 4"/>
          <p:cNvGrpSpPr/>
          <p:nvPr/>
        </p:nvGrpSpPr>
        <p:grpSpPr>
          <a:xfrm>
            <a:off x="381000" y="5562600"/>
            <a:ext cx="8382000" cy="1143000"/>
            <a:chOff x="0" y="0"/>
            <a:chExt cx="8382000" cy="1143000"/>
          </a:xfrm>
        </p:grpSpPr>
        <p:sp>
          <p:nvSpPr>
            <p:cNvPr id="130" name="Rectangle"/>
            <p:cNvSpPr/>
            <p:nvPr/>
          </p:nvSpPr>
          <p:spPr>
            <a:xfrm>
              <a:off x="0" y="0"/>
              <a:ext cx="8382000" cy="114300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3200">
                  <a:ln w="18000" cap="flat">
                    <a:solidFill>
                      <a:srgbClr val="D73A36"/>
                    </a:solidFill>
                    <a:prstDash val="solid"/>
                    <a:miter lim="800000"/>
                  </a:ln>
                  <a:solidFill>
                    <a:srgbClr val="FFFF00"/>
                  </a:solidFill>
                  <a:effectLst>
                    <a:outerShdw sx="100000" sy="100000" kx="0" ky="0" algn="b" rotWithShape="0" blurRad="25400" dist="23000" dir="7020000">
                      <a:srgbClr val="000000">
                        <a:alpha val="50000"/>
                      </a:srgbClr>
                    </a:outerShdw>
                  </a:effectLst>
                </a:defRPr>
              </a:pPr>
            </a:p>
          </p:txBody>
        </p:sp>
        <p:sp>
          <p:nvSpPr>
            <p:cNvPr id="131" name="Right People for  Right Job at Right  Time with Right Skill and Right Wages &amp; Salary"/>
            <p:cNvSpPr txBox="1"/>
            <p:nvPr/>
          </p:nvSpPr>
          <p:spPr>
            <a:xfrm>
              <a:off x="58419" y="75326"/>
              <a:ext cx="8265161" cy="9923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3200">
                  <a:ln w="18000" cap="flat">
                    <a:solidFill>
                      <a:srgbClr val="D73A36"/>
                    </a:solidFill>
                    <a:prstDash val="solid"/>
                    <a:miter lim="800000"/>
                  </a:ln>
                  <a:solidFill>
                    <a:srgbClr val="92D050"/>
                  </a:solidFill>
                  <a:effectLst>
                    <a:outerShdw sx="100000" sy="100000" kx="0" ky="0" algn="b" rotWithShape="0" blurRad="25400" dist="23000" dir="702000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t>Right People </a:t>
              </a:r>
              <a:r>
                <a:rPr>
                  <a:noFill/>
                </a:rPr>
                <a:t>for  </a:t>
              </a:r>
              <a:r>
                <a:rPr>
                  <a:solidFill>
                    <a:srgbClr val="FF0000"/>
                  </a:solidFill>
                </a:rPr>
                <a:t>Right Job </a:t>
              </a:r>
              <a:r>
                <a:rPr>
                  <a:noFill/>
                </a:rPr>
                <a:t>at </a:t>
              </a:r>
              <a:r>
                <a:rPr>
                  <a:solidFill>
                    <a:srgbClr val="00B0F0"/>
                  </a:solidFill>
                </a:rPr>
                <a:t>Right  Time </a:t>
              </a:r>
              <a:r>
                <a:rPr>
                  <a:noFill/>
                </a:rPr>
                <a:t>with Right Skill and </a:t>
              </a:r>
              <a:r>
                <a:rPr>
                  <a:solidFill>
                    <a:srgbClr val="FFFF00"/>
                  </a:solidFill>
                </a:rPr>
                <a:t>Right Wages &amp; Salary 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xfrm>
            <a:off x="457200" y="274638"/>
            <a:ext cx="8001000" cy="1143001"/>
          </a:xfrm>
          <a:prstGeom prst="rect">
            <a:avLst/>
          </a:prstGeom>
          <a:solidFill>
            <a:srgbClr val="FF0000"/>
          </a:solidFill>
        </p:spPr>
        <p:txBody>
          <a:bodyPr/>
          <a:lstStyle/>
          <a:p>
            <a:pPr/>
            <a:r>
              <a:t>Selection Ladder</a:t>
            </a:r>
          </a:p>
        </p:txBody>
      </p:sp>
      <p:sp>
        <p:nvSpPr>
          <p:cNvPr id="135" name="Content Placeholder 2"/>
          <p:cNvSpPr txBox="1"/>
          <p:nvPr>
            <p:ph type="body" idx="1"/>
          </p:nvPr>
        </p:nvSpPr>
        <p:spPr>
          <a:xfrm>
            <a:off x="381000" y="1371600"/>
            <a:ext cx="8077200" cy="5257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  <a:round/>
          </a:ln>
        </p:spPr>
        <p:txBody>
          <a:bodyPr/>
          <a:lstStyle/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  <a:r>
              <a:t>                                                                                                                       </a:t>
            </a:r>
            <a:r>
              <a:rPr>
                <a:solidFill>
                  <a:srgbClr val="00B050"/>
                </a:solidFill>
              </a:rPr>
              <a:t>Final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>
                <a:solidFill>
                  <a:srgbClr val="00B050"/>
                </a:solidFill>
              </a:defRPr>
            </a:pPr>
            <a:r>
              <a:t>                                                                                                                       Selection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  <a:r>
              <a:t> 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>
                <a:solidFill>
                  <a:srgbClr val="C00000"/>
                </a:solidFill>
              </a:defRPr>
            </a:pPr>
            <a:r>
              <a:t>Number of Applicants reduces 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>
                <a:solidFill>
                  <a:srgbClr val="C00000"/>
                </a:solidFill>
              </a:defRPr>
            </a:pPr>
            <a:r>
              <a:t>At every forward movement on 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>
                <a:solidFill>
                  <a:srgbClr val="C00000"/>
                </a:solidFill>
              </a:defRPr>
            </a:pPr>
            <a:r>
              <a:t>Ladder 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  <a:r>
              <a:t>                             </a:t>
            </a:r>
          </a:p>
          <a:p>
            <a:pPr>
              <a:lnSpc>
                <a:spcPct val="80000"/>
              </a:lnSpc>
              <a:spcBef>
                <a:spcPts val="400"/>
              </a:spcBef>
              <a:buSzTx/>
              <a:buNone/>
              <a:defRPr sz="2000"/>
            </a:pPr>
          </a:p>
          <a:p>
            <a:pPr>
              <a:lnSpc>
                <a:spcPct val="80000"/>
              </a:lnSpc>
              <a:spcBef>
                <a:spcPts val="600"/>
              </a:spcBef>
              <a:buSzTx/>
              <a:buNone/>
              <a:defRPr sz="2800"/>
            </a:pPr>
            <a:r>
              <a:t>                                          Recruited Man Power </a:t>
            </a:r>
            <a:endParaRPr sz="2000"/>
          </a:p>
          <a:p>
            <a:pPr>
              <a:lnSpc>
                <a:spcPct val="80000"/>
              </a:lnSpc>
              <a:spcBef>
                <a:spcPts val="600"/>
              </a:spcBef>
              <a:buSzTx/>
              <a:buNone/>
              <a:defRPr sz="2800"/>
            </a:pPr>
            <a:r>
              <a:t>                                                     Fatty at Bottom</a:t>
            </a:r>
          </a:p>
        </p:txBody>
      </p:sp>
      <p:sp>
        <p:nvSpPr>
          <p:cNvPr id="136" name="Straight Connector 5"/>
          <p:cNvSpPr/>
          <p:nvPr/>
        </p:nvSpPr>
        <p:spPr>
          <a:xfrm>
            <a:off x="6858793" y="1600994"/>
            <a:ext cx="75407" cy="3809206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traight Connector 10"/>
          <p:cNvSpPr/>
          <p:nvPr/>
        </p:nvSpPr>
        <p:spPr>
          <a:xfrm flipH="1" flipV="1">
            <a:off x="2438399" y="5410200"/>
            <a:ext cx="4495802" cy="1588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traight Connector 12"/>
          <p:cNvSpPr/>
          <p:nvPr/>
        </p:nvSpPr>
        <p:spPr>
          <a:xfrm flipV="1">
            <a:off x="2437606" y="4953794"/>
            <a:ext cx="1589" cy="457201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Elbow Connector 16"/>
          <p:cNvSpPr/>
          <p:nvPr/>
        </p:nvSpPr>
        <p:spPr>
          <a:xfrm flipV="1">
            <a:off x="2438400" y="4495800"/>
            <a:ext cx="990600" cy="457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0" name="Elbow Connector 18"/>
          <p:cNvSpPr/>
          <p:nvPr/>
        </p:nvSpPr>
        <p:spPr>
          <a:xfrm flipH="1" flipV="1" rot="5400000">
            <a:off x="3275805" y="3657600"/>
            <a:ext cx="991395" cy="686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1" name="Elbow Connector 23"/>
          <p:cNvSpPr/>
          <p:nvPr/>
        </p:nvSpPr>
        <p:spPr>
          <a:xfrm flipV="1">
            <a:off x="4114800" y="2895600"/>
            <a:ext cx="1143000" cy="609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2" name="Elbow Connector 26"/>
          <p:cNvSpPr/>
          <p:nvPr/>
        </p:nvSpPr>
        <p:spPr>
          <a:xfrm flipH="1" flipV="1" rot="5400000">
            <a:off x="5219700" y="2095500"/>
            <a:ext cx="83820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3" name="Straight Connector 28"/>
          <p:cNvSpPr/>
          <p:nvPr/>
        </p:nvSpPr>
        <p:spPr>
          <a:xfrm flipV="1">
            <a:off x="6019006" y="1981993"/>
            <a:ext cx="1589" cy="76201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Elbow Connector 30"/>
          <p:cNvSpPr/>
          <p:nvPr/>
        </p:nvSpPr>
        <p:spPr>
          <a:xfrm flipV="1">
            <a:off x="6019800" y="1600200"/>
            <a:ext cx="838200" cy="381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953735"/>
                </a:solidFill>
              </a:defRPr>
            </a:lvl1pPr>
          </a:lstStyle>
          <a:p>
            <a:pPr/>
            <a:r>
              <a:t>What is Selection?</a:t>
            </a:r>
          </a:p>
        </p:txBody>
      </p:sp>
      <p:sp>
        <p:nvSpPr>
          <p:cNvPr id="147" name="Content Placeholder 2"/>
          <p:cNvSpPr txBox="1"/>
          <p:nvPr>
            <p:ph type="body" idx="1"/>
          </p:nvPr>
        </p:nvSpPr>
        <p:spPr>
          <a:xfrm>
            <a:off x="457200" y="1612900"/>
            <a:ext cx="8229600" cy="4525963"/>
          </a:xfrm>
          <a:prstGeom prst="rect">
            <a:avLst/>
          </a:prstGeom>
          <a:solidFill>
            <a:schemeClr val="accent4"/>
          </a:solidFill>
          <a:ln w="25400">
            <a:solidFill>
              <a:srgbClr val="5D4976"/>
            </a:solidFill>
            <a:round/>
          </a:ln>
        </p:spPr>
        <p:txBody>
          <a:bodyPr/>
          <a:lstStyle/>
          <a:p>
            <a:pPr algn="just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a tool in the hand of management to    choose employees for the prospective job.</a:t>
            </a:r>
          </a:p>
          <a:p>
            <a:pPr algn="just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a process to </a:t>
            </a:r>
            <a:r>
              <a:rPr b="1"/>
              <a:t>differentiate</a:t>
            </a:r>
            <a:r>
              <a:t> </a:t>
            </a:r>
            <a:r>
              <a:rPr b="1"/>
              <a:t>between </a:t>
            </a:r>
            <a:r>
              <a:rPr b="1">
                <a:solidFill>
                  <a:srgbClr val="000000"/>
                </a:solidFill>
              </a:rPr>
              <a:t>qualified &amp; unqualified applicants</a:t>
            </a:r>
            <a:r>
              <a:t>.</a:t>
            </a:r>
          </a:p>
          <a:p>
            <a:pPr algn="just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involves some techniques  such as </a:t>
            </a:r>
            <a:r>
              <a:rPr b="1">
                <a:solidFill>
                  <a:srgbClr val="FF0000"/>
                </a:solidFill>
              </a:rPr>
              <a:t>written test</a:t>
            </a:r>
            <a:r>
              <a:rPr>
                <a:solidFill>
                  <a:srgbClr val="FF0000"/>
                </a:solidFill>
              </a:rPr>
              <a:t>, </a:t>
            </a:r>
            <a:r>
              <a:rPr b="1">
                <a:solidFill>
                  <a:srgbClr val="FF0000"/>
                </a:solidFill>
              </a:rPr>
              <a:t>interviews</a:t>
            </a:r>
            <a:r>
              <a:rPr>
                <a:solidFill>
                  <a:srgbClr val="FF0000"/>
                </a:solidFill>
              </a:rPr>
              <a:t>, different types of other tests to identify </a:t>
            </a:r>
            <a:r>
              <a:rPr u="sng">
                <a:solidFill>
                  <a:srgbClr val="FF0000"/>
                </a:solidFill>
              </a:rPr>
              <a:t>qualified and qualitative human resources </a:t>
            </a:r>
            <a:r>
              <a:rPr>
                <a:solidFill>
                  <a:srgbClr val="FF0000"/>
                </a:solidFill>
              </a:rPr>
              <a:t>for the organization.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title"/>
          </p:nvPr>
        </p:nvSpPr>
        <p:spPr>
          <a:xfrm>
            <a:off x="457200" y="274638"/>
            <a:ext cx="8229600" cy="868363"/>
          </a:xfrm>
          <a:prstGeom prst="rect">
            <a:avLst/>
          </a:prstGeom>
          <a:solidFill>
            <a:schemeClr val="accent2"/>
          </a:solidFill>
          <a:ln w="25400">
            <a:solidFill>
              <a:srgbClr val="8C3A38"/>
            </a:solidFill>
            <a:round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Process of Selection 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xfrm>
            <a:off x="457200" y="1295400"/>
            <a:ext cx="8229600" cy="5334000"/>
          </a:xfrm>
          <a:prstGeom prst="rect">
            <a:avLst/>
          </a:prstGeom>
          <a:gradFill>
            <a:gsLst>
              <a:gs pos="0">
                <a:schemeClr val="accent6">
                  <a:hueOff val="-456778"/>
                  <a:satOff val="8290"/>
                  <a:lumOff val="24503"/>
                </a:schemeClr>
              </a:gs>
              <a:gs pos="35000">
                <a:srgbClr val="FFDECF"/>
              </a:gs>
              <a:gs pos="100000">
                <a:schemeClr val="accent6">
                  <a:hueOff val="-556026"/>
                  <a:satOff val="8290"/>
                  <a:lumOff val="34267"/>
                </a:schemeClr>
              </a:gs>
            </a:gsLst>
            <a:lin ang="16200000"/>
          </a:gradFill>
          <a:ln w="9525">
            <a:solidFill>
              <a:srgbClr val="F69240"/>
            </a:solidFill>
            <a:round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Step-1:</a:t>
            </a:r>
            <a:r>
              <a:rPr b="0"/>
              <a:t> Reception of Individuals recruited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Step-2: </a:t>
            </a:r>
            <a:r>
              <a:rPr b="0"/>
              <a:t>Filling up of Application Blank 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Step-3:</a:t>
            </a:r>
            <a:r>
              <a:rPr b="0"/>
              <a:t> Evaluation of Application Blanks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Step-4:</a:t>
            </a:r>
            <a:r>
              <a:rPr b="0"/>
              <a:t> Selection Test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Step-5:</a:t>
            </a:r>
            <a:r>
              <a:rPr b="0"/>
              <a:t> Interview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Step-6:</a:t>
            </a:r>
            <a:r>
              <a:rPr b="0"/>
              <a:t> Background and reference checks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Step-7:</a:t>
            </a:r>
            <a:r>
              <a:rPr b="0"/>
              <a:t> Approval by management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Step-8:</a:t>
            </a:r>
            <a:r>
              <a:rPr b="0"/>
              <a:t> Physical /medical test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Step-9:</a:t>
            </a:r>
            <a:r>
              <a:rPr b="0"/>
              <a:t> </a:t>
            </a:r>
            <a:r>
              <a:t>Job offer letter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buSzTx/>
              <a:buNone/>
              <a:defRPr b="1" sz="2900"/>
            </a:pPr>
            <a:r>
              <a:t>Step-10: </a:t>
            </a:r>
            <a:r>
              <a:rPr b="0"/>
              <a:t>Evaluation of Selection Process  and follow up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traight Connector 2"/>
          <p:cNvSpPr/>
          <p:nvPr/>
        </p:nvSpPr>
        <p:spPr>
          <a:xfrm>
            <a:off x="7924800" y="228599"/>
            <a:ext cx="76200" cy="5715002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traight Connector 4"/>
          <p:cNvSpPr/>
          <p:nvPr/>
        </p:nvSpPr>
        <p:spPr>
          <a:xfrm flipH="1" flipV="1">
            <a:off x="1676399" y="5943599"/>
            <a:ext cx="6324602" cy="1590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Elbow Connector 12"/>
          <p:cNvSpPr/>
          <p:nvPr/>
        </p:nvSpPr>
        <p:spPr>
          <a:xfrm flipH="1" flipV="1" rot="5400000">
            <a:off x="1562100" y="5067300"/>
            <a:ext cx="99060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5" name="Rectangle 13"/>
          <p:cNvSpPr/>
          <p:nvPr/>
        </p:nvSpPr>
        <p:spPr>
          <a:xfrm>
            <a:off x="2899585" y="5460326"/>
            <a:ext cx="3653615" cy="342613"/>
          </a:xfrm>
          <a:prstGeom prst="rect">
            <a:avLst/>
          </a:prstGeom>
          <a:gradFill>
            <a:gsLst>
              <a:gs pos="0">
                <a:schemeClr val="accent2">
                  <a:hueOff val="-39879"/>
                  <a:satOff val="52282"/>
                  <a:lumOff val="29251"/>
                </a:schemeClr>
              </a:gs>
              <a:gs pos="35000">
                <a:srgbClr val="FFBFBE"/>
              </a:gs>
              <a:gs pos="100000">
                <a:schemeClr val="accent2">
                  <a:hueOff val="-44018"/>
                  <a:satOff val="52282"/>
                  <a:lumOff val="42346"/>
                </a:schemeClr>
              </a:gs>
            </a:gsLst>
            <a:lin ang="16200000"/>
          </a:gradFill>
          <a:ln>
            <a:solidFill>
              <a:srgbClr val="BE4B4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pPr/>
            <a:r>
              <a:t>Reception of Individuals recruited</a:t>
            </a:r>
          </a:p>
        </p:txBody>
      </p:sp>
      <p:sp>
        <p:nvSpPr>
          <p:cNvPr id="156" name="Elbow Connector 15"/>
          <p:cNvSpPr/>
          <p:nvPr/>
        </p:nvSpPr>
        <p:spPr>
          <a:xfrm flipV="1">
            <a:off x="2438400" y="4419600"/>
            <a:ext cx="1143000" cy="533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7" name="Elbow Connector 17"/>
          <p:cNvSpPr/>
          <p:nvPr/>
        </p:nvSpPr>
        <p:spPr>
          <a:xfrm flipH="1" flipV="1" rot="5400000">
            <a:off x="3429000" y="3657600"/>
            <a:ext cx="914400" cy="609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8" name="Elbow Connector 19"/>
          <p:cNvSpPr/>
          <p:nvPr/>
        </p:nvSpPr>
        <p:spPr>
          <a:xfrm flipV="1">
            <a:off x="4191000" y="2895600"/>
            <a:ext cx="1219200" cy="609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9" name="Rectangle 21"/>
          <p:cNvSpPr/>
          <p:nvPr/>
        </p:nvSpPr>
        <p:spPr>
          <a:xfrm>
            <a:off x="3657600" y="4953000"/>
            <a:ext cx="3733800" cy="358488"/>
          </a:xfrm>
          <a:prstGeom prst="rect">
            <a:avLst/>
          </a:prstGeom>
          <a:solidFill>
            <a:schemeClr val="accent4"/>
          </a:solidFill>
          <a:ln w="25400">
            <a:solidFill>
              <a:srgbClr val="5D4976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pPr/>
            <a:r>
              <a:t>Filling up of Application Blank </a:t>
            </a:r>
          </a:p>
        </p:txBody>
      </p:sp>
      <p:sp>
        <p:nvSpPr>
          <p:cNvPr id="160" name="Rectangle 22"/>
          <p:cNvSpPr/>
          <p:nvPr/>
        </p:nvSpPr>
        <p:spPr>
          <a:xfrm>
            <a:off x="4191000" y="4495800"/>
            <a:ext cx="3429000" cy="358488"/>
          </a:xfrm>
          <a:prstGeom prst="rect">
            <a:avLst/>
          </a:prstGeom>
          <a:solidFill>
            <a:schemeClr val="accent2"/>
          </a:solidFill>
          <a:ln w="25400">
            <a:solidFill>
              <a:srgbClr val="8C3A38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Evaluation of Application Blanks </a:t>
            </a:r>
          </a:p>
        </p:txBody>
      </p:sp>
      <p:sp>
        <p:nvSpPr>
          <p:cNvPr id="161" name="Rectangle 23"/>
          <p:cNvSpPr/>
          <p:nvPr/>
        </p:nvSpPr>
        <p:spPr>
          <a:xfrm>
            <a:off x="4953000" y="4114800"/>
            <a:ext cx="2286000" cy="342613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/>
          </a:gradFill>
          <a:ln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Selection Test</a:t>
            </a:r>
          </a:p>
        </p:txBody>
      </p:sp>
      <p:sp>
        <p:nvSpPr>
          <p:cNvPr id="162" name="Rectangle 24"/>
          <p:cNvSpPr/>
          <p:nvPr/>
        </p:nvSpPr>
        <p:spPr>
          <a:xfrm>
            <a:off x="5334000" y="3581400"/>
            <a:ext cx="1676400" cy="358488"/>
          </a:xfrm>
          <a:prstGeom prst="rect">
            <a:avLst/>
          </a:prstGeom>
          <a:solidFill>
            <a:schemeClr val="accent6"/>
          </a:solidFill>
          <a:ln w="25400">
            <a:solidFill>
              <a:srgbClr val="B46D33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Interview</a:t>
            </a:r>
          </a:p>
        </p:txBody>
      </p:sp>
      <p:sp>
        <p:nvSpPr>
          <p:cNvPr id="163" name="Rectangle 25"/>
          <p:cNvSpPr/>
          <p:nvPr/>
        </p:nvSpPr>
        <p:spPr>
          <a:xfrm>
            <a:off x="5791200" y="2971800"/>
            <a:ext cx="2057400" cy="634713"/>
          </a:xfrm>
          <a:prstGeom prst="rect">
            <a:avLst/>
          </a:prstGeom>
          <a:gradFill>
            <a:gsLst>
              <a:gs pos="0">
                <a:srgbClr val="769537"/>
              </a:gs>
              <a:gs pos="80000">
                <a:srgbClr val="9BC348"/>
              </a:gs>
              <a:gs pos="100000">
                <a:srgbClr val="9CC646"/>
              </a:gs>
            </a:gsLst>
            <a:lin ang="16200000"/>
          </a:gradFill>
          <a:ln>
            <a:solidFill>
              <a:srgbClr val="98B95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Background and reference checks </a:t>
            </a:r>
          </a:p>
        </p:txBody>
      </p:sp>
      <p:sp>
        <p:nvSpPr>
          <p:cNvPr id="164" name="Elbow Connector 27"/>
          <p:cNvSpPr/>
          <p:nvPr/>
        </p:nvSpPr>
        <p:spPr>
          <a:xfrm flipH="1" flipV="1" rot="5400000">
            <a:off x="5143500" y="1943100"/>
            <a:ext cx="1219200" cy="685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5" name="Elbow Connector 29"/>
          <p:cNvSpPr/>
          <p:nvPr/>
        </p:nvSpPr>
        <p:spPr>
          <a:xfrm flipV="1">
            <a:off x="6096000" y="914400"/>
            <a:ext cx="1066800" cy="76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>
            <a:solidFill>
              <a:srgbClr val="4A7EBB"/>
            </a:solidFill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6" name="Straight Connector 31"/>
          <p:cNvSpPr/>
          <p:nvPr/>
        </p:nvSpPr>
        <p:spPr>
          <a:xfrm flipV="1">
            <a:off x="7162800" y="228599"/>
            <a:ext cx="795" cy="686595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traight Connector 34"/>
          <p:cNvSpPr/>
          <p:nvPr/>
        </p:nvSpPr>
        <p:spPr>
          <a:xfrm>
            <a:off x="-3048000" y="-1"/>
            <a:ext cx="914401" cy="914402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traight Connector 36"/>
          <p:cNvSpPr/>
          <p:nvPr/>
        </p:nvSpPr>
        <p:spPr>
          <a:xfrm>
            <a:off x="7162800" y="228599"/>
            <a:ext cx="762001" cy="1590"/>
          </a:xfrm>
          <a:prstGeom prst="line">
            <a:avLst/>
          </a:prstGeom>
          <a:ln>
            <a:solidFill>
              <a:srgbClr val="4A7E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Rectangle 39"/>
          <p:cNvSpPr/>
          <p:nvPr/>
        </p:nvSpPr>
        <p:spPr>
          <a:xfrm>
            <a:off x="5867400" y="2362200"/>
            <a:ext cx="2066478" cy="634713"/>
          </a:xfrm>
          <a:prstGeom prst="rect">
            <a:avLst/>
          </a:prstGeom>
          <a:gradFill>
            <a:gsLst>
              <a:gs pos="0">
                <a:schemeClr val="accent3">
                  <a:hueOff val="263624"/>
                  <a:satOff val="55948"/>
                  <a:lumOff val="27907"/>
                </a:schemeClr>
              </a:gs>
              <a:gs pos="35000">
                <a:srgbClr val="E4FDBF"/>
              </a:gs>
              <a:gs pos="100000">
                <a:schemeClr val="accent3">
                  <a:hueOff val="321492"/>
                  <a:satOff val="58119"/>
                  <a:lumOff val="40966"/>
                </a:schemeClr>
              </a:gs>
            </a:gsLst>
            <a:lin ang="16200000"/>
          </a:gradFill>
          <a:ln>
            <a:solidFill>
              <a:srgbClr val="98B95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Approval by management</a:t>
            </a:r>
          </a:p>
        </p:txBody>
      </p:sp>
      <p:sp>
        <p:nvSpPr>
          <p:cNvPr id="170" name="Rectangle 40"/>
          <p:cNvSpPr/>
          <p:nvPr/>
        </p:nvSpPr>
        <p:spPr>
          <a:xfrm>
            <a:off x="6248400" y="1752600"/>
            <a:ext cx="1600200" cy="663288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Physical /medical test</a:t>
            </a:r>
          </a:p>
        </p:txBody>
      </p:sp>
      <p:sp>
        <p:nvSpPr>
          <p:cNvPr id="171" name="Rectangle 41"/>
          <p:cNvSpPr/>
          <p:nvPr/>
        </p:nvSpPr>
        <p:spPr>
          <a:xfrm>
            <a:off x="6858000" y="990600"/>
            <a:ext cx="1066800" cy="650588"/>
          </a:xfrm>
          <a:prstGeom prst="rect">
            <a:avLst/>
          </a:prstGeom>
          <a:solidFill>
            <a:schemeClr val="accent3"/>
          </a:solidFill>
          <a:ln w="25400">
            <a:solidFill>
              <a:srgbClr val="71884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Job offer letter</a:t>
            </a:r>
          </a:p>
        </p:txBody>
      </p:sp>
      <p:sp>
        <p:nvSpPr>
          <p:cNvPr id="172" name="Rectangle 42"/>
          <p:cNvSpPr/>
          <p:nvPr/>
        </p:nvSpPr>
        <p:spPr>
          <a:xfrm>
            <a:off x="2971800" y="304800"/>
            <a:ext cx="4953000" cy="342613"/>
          </a:xfrm>
          <a:prstGeom prst="rect">
            <a:avLst/>
          </a:prstGeom>
          <a:gradFill>
            <a:gsLst>
              <a:gs pos="0">
                <a:srgbClr val="C96D20"/>
              </a:gs>
              <a:gs pos="80000">
                <a:srgbClr val="FF9034"/>
              </a:gs>
              <a:gs pos="100000">
                <a:srgbClr val="FF9035"/>
              </a:gs>
            </a:gsLst>
            <a:lin ang="16200000"/>
          </a:gradFill>
          <a:ln>
            <a:solidFill>
              <a:srgbClr val="F6924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      Evaluation of Selection Process  and follow up</a:t>
            </a:r>
          </a:p>
        </p:txBody>
      </p:sp>
      <p:sp>
        <p:nvSpPr>
          <p:cNvPr id="173" name="Rectangle 43"/>
          <p:cNvSpPr/>
          <p:nvPr/>
        </p:nvSpPr>
        <p:spPr>
          <a:xfrm>
            <a:off x="380999" y="6019800"/>
            <a:ext cx="8382001" cy="614943"/>
          </a:xfrm>
          <a:prstGeom prst="rect">
            <a:avLst/>
          </a:prstGeom>
          <a:gradFill>
            <a:gsLst>
              <a:gs pos="0">
                <a:srgbClr val="9A2F2C"/>
              </a:gs>
              <a:gs pos="80000">
                <a:srgbClr val="CA3E3A"/>
              </a:gs>
              <a:gs pos="100000">
                <a:srgbClr val="CE3B37"/>
              </a:gs>
            </a:gsLst>
            <a:lin ang="16200000"/>
          </a:gradFill>
          <a:ln>
            <a:solidFill>
              <a:srgbClr val="BE4B4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Selection  Process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