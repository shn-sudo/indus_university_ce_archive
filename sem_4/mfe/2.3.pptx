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 b="def" i="def"/>
      <a:tcStyle>
        <a:tcBdr/>
        <a:fill>
          <a:solidFill>
            <a:srgbClr val="E9EFF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2"/>
          <p:cNvSpPr txBox="1"/>
          <p:nvPr/>
        </p:nvSpPr>
        <p:spPr>
          <a:xfrm>
            <a:off x="1293890" y="947058"/>
            <a:ext cx="10494610" cy="3396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lnSpc>
                <a:spcPct val="90000"/>
              </a:lnSpc>
              <a:defRPr i="1" sz="8000">
                <a:latin typeface="Calibri Light"/>
                <a:ea typeface="Calibri Light"/>
                <a:cs typeface="Calibri Light"/>
                <a:sym typeface="Calibri Light"/>
              </a:defRPr>
            </a:pPr>
            <a:br/>
            <a:r>
              <a:t>Project Risk Management</a:t>
            </a:r>
          </a:p>
        </p:txBody>
      </p:sp>
      <p:sp>
        <p:nvSpPr>
          <p:cNvPr id="95" name="TextBox 1"/>
          <p:cNvSpPr txBox="1"/>
          <p:nvPr/>
        </p:nvSpPr>
        <p:spPr>
          <a:xfrm>
            <a:off x="9588964" y="6078828"/>
            <a:ext cx="2252516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Kaustubh Gupta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2"/>
          <p:cNvSpPr txBox="1"/>
          <p:nvPr/>
        </p:nvSpPr>
        <p:spPr>
          <a:xfrm>
            <a:off x="433646" y="457200"/>
            <a:ext cx="10223270" cy="653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4400"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The Importance of Project Risk Management</a:t>
            </a:r>
          </a:p>
        </p:txBody>
      </p:sp>
      <p:sp>
        <p:nvSpPr>
          <p:cNvPr id="98" name="Rectangle 3"/>
          <p:cNvSpPr txBox="1"/>
          <p:nvPr/>
        </p:nvSpPr>
        <p:spPr>
          <a:xfrm>
            <a:off x="433646" y="1808017"/>
            <a:ext cx="11511744" cy="45209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Project risk management is the art and science of identifying, assigning, and responding to risk throughout the life of a project and in the best interests of meeting project objectives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800"/>
            </a:p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Risk management is often overlooked on projects, but it can help improve project success by helping select good projects, determining project scope, and developing realistic estimates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800"/>
            </a:p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KPMG study found that 55 percent of runaway projects did no risk management at all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2"/>
          <p:cNvSpPr txBox="1"/>
          <p:nvPr/>
        </p:nvSpPr>
        <p:spPr>
          <a:xfrm>
            <a:off x="1804238" y="312765"/>
            <a:ext cx="7680960" cy="662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3200">
                <a:solidFill>
                  <a:srgbClr val="44546A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Project Risk Classification</a:t>
            </a:r>
          </a:p>
        </p:txBody>
      </p:sp>
      <p:pic>
        <p:nvPicPr>
          <p:cNvPr id="101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3850" y="1052512"/>
            <a:ext cx="11355532" cy="54006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2"/>
          <p:cNvSpPr txBox="1"/>
          <p:nvPr/>
        </p:nvSpPr>
        <p:spPr>
          <a:xfrm>
            <a:off x="426719" y="360218"/>
            <a:ext cx="7833361" cy="653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90000"/>
              </a:lnSpc>
              <a:defRPr sz="4400"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t>What is Risk</a:t>
            </a:r>
            <a:r>
              <a:t>?</a:t>
            </a:r>
          </a:p>
        </p:txBody>
      </p:sp>
      <p:sp>
        <p:nvSpPr>
          <p:cNvPr id="104" name="Rectangle 3"/>
          <p:cNvSpPr txBox="1"/>
          <p:nvPr/>
        </p:nvSpPr>
        <p:spPr>
          <a:xfrm>
            <a:off x="426719" y="1615208"/>
            <a:ext cx="11290070" cy="293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A dictionary definition of risk is “the possibility of loss or injury”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800"/>
            </a:p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Project risk involves understanding </a:t>
            </a:r>
            <a:r>
              <a:rPr b="1"/>
              <a:t>potential problems </a:t>
            </a:r>
            <a:r>
              <a:t>that might occur on the project and how they might impede project success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800"/>
            </a:p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Risk management is like a form of insurance; it is an investment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26"/>
          <p:cNvSpPr txBox="1"/>
          <p:nvPr/>
        </p:nvSpPr>
        <p:spPr>
          <a:xfrm>
            <a:off x="516774" y="207818"/>
            <a:ext cx="7833361" cy="653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4400"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Risk Utility</a:t>
            </a:r>
          </a:p>
        </p:txBody>
      </p:sp>
      <p:sp>
        <p:nvSpPr>
          <p:cNvPr id="107" name="Rectangle 1027"/>
          <p:cNvSpPr txBox="1"/>
          <p:nvPr/>
        </p:nvSpPr>
        <p:spPr>
          <a:xfrm>
            <a:off x="295101" y="1655618"/>
            <a:ext cx="11026834" cy="3717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Risk utility or risk tolerance is the amount of satisfaction or pleasure received from a potential payoff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800"/>
            </a:pPr>
          </a:p>
          <a:p>
            <a:pPr lvl="1" marL="685800" indent="-228600">
              <a:lnSpc>
                <a:spcPct val="90000"/>
              </a:lnSpc>
              <a:spcBef>
                <a:spcPts val="500"/>
              </a:spcBef>
              <a:buSzPct val="100000"/>
              <a:buFont typeface="Arial"/>
              <a:buChar char="•"/>
              <a:defRPr sz="2400"/>
            </a:pPr>
            <a:r>
              <a:t>Utility rises at a decreasing rate for a person who is </a:t>
            </a:r>
            <a:r>
              <a:rPr b="1"/>
              <a:t>risk-averse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defRPr sz="2400"/>
            </a:pPr>
          </a:p>
          <a:p>
            <a:pPr lvl="1" marL="685800" indent="-228600">
              <a:lnSpc>
                <a:spcPct val="90000"/>
              </a:lnSpc>
              <a:spcBef>
                <a:spcPts val="500"/>
              </a:spcBef>
              <a:buSzPct val="100000"/>
              <a:buFont typeface="Arial"/>
              <a:buChar char="•"/>
              <a:defRPr sz="2400"/>
            </a:pPr>
            <a:r>
              <a:t>Those who are </a:t>
            </a:r>
            <a:r>
              <a:rPr b="1"/>
              <a:t>risk-seeking </a:t>
            </a:r>
            <a:r>
              <a:t>have a higher tolerance for risk and their satisfaction increases when more payoff is at stake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defRPr sz="2400"/>
            </a:pPr>
          </a:p>
          <a:p>
            <a:pPr lvl="1" marL="685800" indent="-228600">
              <a:lnSpc>
                <a:spcPct val="90000"/>
              </a:lnSpc>
              <a:spcBef>
                <a:spcPts val="500"/>
              </a:spcBef>
              <a:buSzPct val="100000"/>
              <a:buFont typeface="Arial"/>
              <a:buChar char="•"/>
              <a:defRPr sz="2400"/>
            </a:pPr>
            <a:r>
              <a:t>The </a:t>
            </a:r>
            <a:r>
              <a:rPr b="1"/>
              <a:t>risk neutral </a:t>
            </a:r>
            <a:r>
              <a:t>approach achieves a balance between risk and payoff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2"/>
          <p:cNvSpPr txBox="1"/>
          <p:nvPr/>
        </p:nvSpPr>
        <p:spPr>
          <a:xfrm>
            <a:off x="392082" y="207818"/>
            <a:ext cx="9599816" cy="653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44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Risk Utility Function and Risk Preference</a:t>
            </a:r>
          </a:p>
        </p:txBody>
      </p:sp>
      <p:pic>
        <p:nvPicPr>
          <p:cNvPr id="11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33398" y="1433946"/>
            <a:ext cx="10958947" cy="54240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2"/>
          <p:cNvSpPr txBox="1"/>
          <p:nvPr/>
        </p:nvSpPr>
        <p:spPr>
          <a:xfrm>
            <a:off x="537555" y="311005"/>
            <a:ext cx="7833361" cy="601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4000"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What is Project Risk Management?</a:t>
            </a:r>
          </a:p>
        </p:txBody>
      </p:sp>
      <p:sp>
        <p:nvSpPr>
          <p:cNvPr id="113" name="Rectangle 3"/>
          <p:cNvSpPr txBox="1"/>
          <p:nvPr/>
        </p:nvSpPr>
        <p:spPr>
          <a:xfrm>
            <a:off x="315882" y="1336964"/>
            <a:ext cx="11442470" cy="5080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defRPr sz="2800"/>
            </a:pPr>
            <a:r>
              <a:t>	</a:t>
            </a:r>
            <a:r>
              <a:rPr sz="2400"/>
              <a:t>The goal of project risk management is to minimize potential risks while maximizing potential opportunities.  Major processes include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defRPr b="1" sz="2400"/>
            </a:pPr>
          </a:p>
          <a:p>
            <a:pPr lvl="1" marL="685800" indent="-228600">
              <a:lnSpc>
                <a:spcPct val="90000"/>
              </a:lnSpc>
              <a:spcBef>
                <a:spcPts val="500"/>
              </a:spcBef>
              <a:buSzPct val="100000"/>
              <a:buFont typeface="Arial"/>
              <a:buChar char="•"/>
              <a:defRPr b="1" sz="2400"/>
            </a:pPr>
            <a:r>
              <a:t>Risk management planning</a:t>
            </a:r>
            <a:r>
              <a:rPr b="0"/>
              <a:t>: deciding how to approach and plan the risk management activities for the project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defRPr sz="2400"/>
            </a:pPr>
          </a:p>
          <a:p>
            <a:pPr lvl="1" marL="685800" indent="-228600">
              <a:lnSpc>
                <a:spcPct val="90000"/>
              </a:lnSpc>
              <a:spcBef>
                <a:spcPts val="500"/>
              </a:spcBef>
              <a:buSzPct val="100000"/>
              <a:buFont typeface="Arial"/>
              <a:buChar char="•"/>
              <a:defRPr b="1" sz="2400"/>
            </a:pPr>
            <a:r>
              <a:t>Risk identification</a:t>
            </a:r>
            <a:r>
              <a:rPr b="0"/>
              <a:t>:  determining which risks are likely to affect a project and documenting their characteristics</a:t>
            </a:r>
          </a:p>
          <a:p>
            <a:pPr lvl="1" marL="685800" indent="-228600">
              <a:lnSpc>
                <a:spcPct val="90000"/>
              </a:lnSpc>
              <a:spcBef>
                <a:spcPts val="500"/>
              </a:spcBef>
              <a:buSzPct val="100000"/>
              <a:buFont typeface="Arial"/>
              <a:buChar char="•"/>
              <a:defRPr sz="2400"/>
            </a:pPr>
          </a:p>
          <a:p>
            <a:pPr lvl="1" marL="685800" indent="-228600">
              <a:lnSpc>
                <a:spcPct val="90000"/>
              </a:lnSpc>
              <a:spcBef>
                <a:spcPts val="500"/>
              </a:spcBef>
              <a:buSzPct val="100000"/>
              <a:buFont typeface="Arial"/>
              <a:buChar char="•"/>
              <a:defRPr b="1" sz="2400"/>
            </a:pPr>
            <a:r>
              <a:t>Qualitative risk analysis</a:t>
            </a:r>
            <a:r>
              <a:rPr b="0"/>
              <a:t>: characterizing and analyzing risks and prioritizing their effects on project objectives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defRPr sz="2400"/>
            </a:pPr>
          </a:p>
          <a:p>
            <a:pPr lvl="1" marL="685800" indent="-228600">
              <a:lnSpc>
                <a:spcPct val="90000"/>
              </a:lnSpc>
              <a:spcBef>
                <a:spcPts val="500"/>
              </a:spcBef>
              <a:buSzPct val="100000"/>
              <a:buFont typeface="Arial"/>
              <a:buChar char="•"/>
              <a:defRPr b="1" sz="2400"/>
            </a:pPr>
            <a:r>
              <a:t>Quantitative risk analysis</a:t>
            </a:r>
            <a:r>
              <a:rPr b="0"/>
              <a:t>: measuring the probability and consequences of risks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"/>
          <p:cNvSpPr txBox="1"/>
          <p:nvPr/>
        </p:nvSpPr>
        <p:spPr>
          <a:xfrm>
            <a:off x="45720" y="681473"/>
            <a:ext cx="11733415" cy="1865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1">
              <a:defRPr b="1" sz="2400"/>
            </a:pPr>
            <a:r>
              <a:t>Risk response planning</a:t>
            </a:r>
            <a:r>
              <a:rPr b="0"/>
              <a:t>: taking steps to enhance opportunities and reduce threats to meeting project objectives</a:t>
            </a:r>
            <a:endParaRPr b="0"/>
          </a:p>
          <a:p>
            <a:pPr lvl="1">
              <a:defRPr b="1" sz="2400"/>
            </a:pPr>
          </a:p>
          <a:p>
            <a:pPr lvl="1">
              <a:defRPr b="1" sz="2400"/>
            </a:pPr>
            <a:r>
              <a:t>Risk monitoring and control</a:t>
            </a:r>
            <a:r>
              <a:rPr b="0"/>
              <a:t>: monitoring known risks, identifying new risks, reducing risks, and evaluating the effectiveness of risk reduction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3"/>
          <p:cNvSpPr txBox="1"/>
          <p:nvPr/>
        </p:nvSpPr>
        <p:spPr>
          <a:xfrm>
            <a:off x="426719" y="1586346"/>
            <a:ext cx="11186161" cy="293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The main output of risk management planning is a risk management plan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800"/>
            </a:p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The project team should review project documents and understand the organization’s and the sponsor’s approach to risk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800"/>
            </a:p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The level of detail will vary with the needs of the project</a:t>
            </a:r>
          </a:p>
        </p:txBody>
      </p:sp>
      <p:sp>
        <p:nvSpPr>
          <p:cNvPr id="118" name="Rectangle 2"/>
          <p:cNvSpPr txBox="1"/>
          <p:nvPr/>
        </p:nvSpPr>
        <p:spPr>
          <a:xfrm>
            <a:off x="426719" y="318654"/>
            <a:ext cx="7833361" cy="653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4400"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Risk Management Planning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2"/>
          <p:cNvSpPr txBox="1"/>
          <p:nvPr/>
        </p:nvSpPr>
        <p:spPr>
          <a:xfrm>
            <a:off x="350519" y="408709"/>
            <a:ext cx="11075325" cy="1283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4400"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Questions Addressed in a Risk Management Plan</a:t>
            </a:r>
          </a:p>
        </p:txBody>
      </p:sp>
      <p:pic>
        <p:nvPicPr>
          <p:cNvPr id="12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4800" y="1565562"/>
            <a:ext cx="11166765" cy="43087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2"/>
          <p:cNvSpPr txBox="1"/>
          <p:nvPr/>
        </p:nvSpPr>
        <p:spPr>
          <a:xfrm>
            <a:off x="426717" y="311726"/>
            <a:ext cx="11352415" cy="1283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4400"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Contingency and Fallback Plans, Contingency Reserves</a:t>
            </a:r>
          </a:p>
        </p:txBody>
      </p:sp>
      <p:sp>
        <p:nvSpPr>
          <p:cNvPr id="124" name="Rectangle 3"/>
          <p:cNvSpPr txBox="1"/>
          <p:nvPr/>
        </p:nvSpPr>
        <p:spPr>
          <a:xfrm>
            <a:off x="426717" y="2286000"/>
            <a:ext cx="11352416" cy="4124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Contingency plans are predefined actions that the project team will take if an identified risk event occurs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800"/>
            </a:p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Fallback plans are developed for risks that have a high impact on meeting project objectives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800"/>
            </a:p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Contingency reserve or allowances are provisions held by the project sponsor that can be used to mitigate cost or schedule risk if changes in scope or quality occur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lide Number Placeholder 5"/>
          <p:cNvSpPr txBox="1"/>
          <p:nvPr>
            <p:ph type="sldNum" sz="quarter" idx="4294967295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27" name="Rectangle 2"/>
          <p:cNvSpPr txBox="1"/>
          <p:nvPr>
            <p:ph type="title"/>
          </p:nvPr>
        </p:nvSpPr>
        <p:spPr>
          <a:xfrm>
            <a:off x="381000" y="311727"/>
            <a:ext cx="8229600" cy="1066801"/>
          </a:xfrm>
          <a:prstGeom prst="rect">
            <a:avLst/>
          </a:prstGeom>
        </p:spPr>
        <p:txBody>
          <a:bodyPr/>
          <a:lstStyle>
            <a:lvl1pPr>
              <a:defRPr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/>
            <a:r>
              <a:t>Other than Project Risk</a:t>
            </a:r>
          </a:p>
        </p:txBody>
      </p:sp>
      <p:sp>
        <p:nvSpPr>
          <p:cNvPr id="128" name="Rectangle 3"/>
          <p:cNvSpPr txBox="1"/>
          <p:nvPr>
            <p:ph type="body" idx="1"/>
          </p:nvPr>
        </p:nvSpPr>
        <p:spPr>
          <a:xfrm>
            <a:off x="381000" y="2066925"/>
            <a:ext cx="11442556" cy="4791075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Market risk</a:t>
            </a:r>
            <a:r>
              <a:rPr b="0"/>
              <a:t>: Will the new product be useful to the organization or marketable to others?  Will users accept and use the product or service?</a:t>
            </a:r>
            <a:endParaRPr b="0"/>
          </a:p>
          <a:p>
            <a:pPr marL="0" indent="0">
              <a:buSzTx/>
              <a:buNone/>
            </a:pPr>
          </a:p>
          <a:p>
            <a:pPr>
              <a:defRPr b="1"/>
            </a:pPr>
            <a:r>
              <a:t>Financial risk</a:t>
            </a:r>
            <a:r>
              <a:rPr b="0"/>
              <a:t>: Can the organization afford to undertake the project?  Is this project the best way to use the company’s financial resources?</a:t>
            </a:r>
            <a:endParaRPr b="0"/>
          </a:p>
          <a:p>
            <a:pPr marL="0" indent="0">
              <a:buSzTx/>
              <a:buNone/>
            </a:pPr>
          </a:p>
          <a:p>
            <a:pPr>
              <a:defRPr b="1"/>
            </a:pPr>
            <a:r>
              <a:t>Technology risk</a:t>
            </a:r>
            <a:r>
              <a:rPr b="0"/>
              <a:t>: Is the project technically feasible? Could the technology be obsolete before a useful product can be produced?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2"/>
          <p:cNvSpPr txBox="1"/>
          <p:nvPr/>
        </p:nvSpPr>
        <p:spPr>
          <a:xfrm>
            <a:off x="426719" y="568036"/>
            <a:ext cx="7833361" cy="653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4400"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Risk Identification</a:t>
            </a:r>
          </a:p>
        </p:txBody>
      </p:sp>
      <p:sp>
        <p:nvSpPr>
          <p:cNvPr id="131" name="Rectangle 3"/>
          <p:cNvSpPr txBox="1"/>
          <p:nvPr/>
        </p:nvSpPr>
        <p:spPr>
          <a:xfrm>
            <a:off x="426719" y="2105891"/>
            <a:ext cx="11290070" cy="3500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Risk identification is the process of understanding what potential unsatisfactory outcomes are associated with a particular project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800"/>
            </a:p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Several risk identification tools and techniques include</a:t>
            </a:r>
          </a:p>
          <a:p>
            <a:pPr lvl="1" marL="685800" indent="-228600">
              <a:lnSpc>
                <a:spcPct val="90000"/>
              </a:lnSpc>
              <a:spcBef>
                <a:spcPts val="500"/>
              </a:spcBef>
              <a:buSzPct val="100000"/>
              <a:buFont typeface="Arial"/>
              <a:buChar char="•"/>
              <a:defRPr sz="2400"/>
            </a:pPr>
            <a:r>
              <a:t>Brainstorming</a:t>
            </a:r>
          </a:p>
          <a:p>
            <a:pPr lvl="1" marL="685800" indent="-228600">
              <a:lnSpc>
                <a:spcPct val="90000"/>
              </a:lnSpc>
              <a:spcBef>
                <a:spcPts val="500"/>
              </a:spcBef>
              <a:buSzPct val="100000"/>
              <a:buFont typeface="Arial"/>
              <a:buChar char="•"/>
              <a:defRPr sz="2400"/>
            </a:pPr>
            <a:r>
              <a:t>The Delphi technique</a:t>
            </a:r>
          </a:p>
          <a:p>
            <a:pPr lvl="1" marL="685800" indent="-228600">
              <a:lnSpc>
                <a:spcPct val="90000"/>
              </a:lnSpc>
              <a:spcBef>
                <a:spcPts val="500"/>
              </a:spcBef>
              <a:buSzPct val="100000"/>
              <a:buFont typeface="Arial"/>
              <a:buChar char="•"/>
              <a:defRPr sz="2400"/>
            </a:pPr>
            <a:r>
              <a:t>Interviewing</a:t>
            </a:r>
          </a:p>
          <a:p>
            <a:pPr lvl="1" marL="685800" indent="-228600">
              <a:lnSpc>
                <a:spcPct val="90000"/>
              </a:lnSpc>
              <a:spcBef>
                <a:spcPts val="500"/>
              </a:spcBef>
              <a:buSzPct val="100000"/>
              <a:buFont typeface="Arial"/>
              <a:buChar char="•"/>
              <a:defRPr sz="2400"/>
            </a:pPr>
            <a:r>
              <a:t>SWOT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2"/>
          <p:cNvSpPr txBox="1"/>
          <p:nvPr/>
        </p:nvSpPr>
        <p:spPr>
          <a:xfrm>
            <a:off x="537556" y="574963"/>
            <a:ext cx="7833361" cy="653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4400"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Quantitative Risk Analysis</a:t>
            </a:r>
          </a:p>
        </p:txBody>
      </p:sp>
      <p:sp>
        <p:nvSpPr>
          <p:cNvPr id="134" name="Rectangle 3"/>
          <p:cNvSpPr txBox="1"/>
          <p:nvPr/>
        </p:nvSpPr>
        <p:spPr>
          <a:xfrm>
            <a:off x="317182" y="2299854"/>
            <a:ext cx="10547554" cy="30992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Assess the likelihood and impact of identified risks to determine their magnitude and priority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800"/>
            </a:p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Risk quantification tools and techniques include 	</a:t>
            </a:r>
          </a:p>
          <a:p>
            <a:pPr lvl="1" marL="685800" indent="-228600">
              <a:lnSpc>
                <a:spcPct val="90000"/>
              </a:lnSpc>
              <a:spcBef>
                <a:spcPts val="500"/>
              </a:spcBef>
              <a:buSzPct val="100000"/>
              <a:buFont typeface="Arial"/>
              <a:buChar char="•"/>
              <a:defRPr sz="2400"/>
            </a:pPr>
            <a:r>
              <a:t>Probability/Impact matrixes</a:t>
            </a:r>
          </a:p>
          <a:p>
            <a:pPr lvl="1" marL="685800" indent="-228600">
              <a:lnSpc>
                <a:spcPct val="90000"/>
              </a:lnSpc>
              <a:spcBef>
                <a:spcPts val="500"/>
              </a:spcBef>
              <a:buSzPct val="100000"/>
              <a:buFont typeface="Arial"/>
              <a:buChar char="•"/>
              <a:defRPr sz="2400"/>
            </a:pPr>
            <a:r>
              <a:t>The Top 10 Risk Item Tracking technique</a:t>
            </a:r>
          </a:p>
          <a:p>
            <a:pPr lvl="1" marL="685800" indent="-228600">
              <a:lnSpc>
                <a:spcPct val="90000"/>
              </a:lnSpc>
              <a:spcBef>
                <a:spcPts val="500"/>
              </a:spcBef>
              <a:buSzPct val="100000"/>
              <a:buFont typeface="Arial"/>
              <a:buChar char="•"/>
              <a:defRPr sz="2400"/>
            </a:pPr>
            <a:r>
              <a:t>Expert judgment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2"/>
          <p:cNvSpPr txBox="1"/>
          <p:nvPr/>
        </p:nvSpPr>
        <p:spPr>
          <a:xfrm>
            <a:off x="495992" y="332508"/>
            <a:ext cx="7833361" cy="653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4400"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Top 10 Risk Item Tracking</a:t>
            </a:r>
          </a:p>
        </p:txBody>
      </p:sp>
      <p:sp>
        <p:nvSpPr>
          <p:cNvPr id="137" name="Rectangle 3"/>
          <p:cNvSpPr txBox="1"/>
          <p:nvPr/>
        </p:nvSpPr>
        <p:spPr>
          <a:xfrm>
            <a:off x="495992" y="1828800"/>
            <a:ext cx="11179234" cy="3728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Top 10 Risk Item Tracking is a tool for maintaining an awareness of risk throughout the life of a project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800"/>
            </a:p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Establish a periodic review of the top 10 project risk items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800"/>
            </a:p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List the current ranking, previous ranking, number of times the risk appears on the list over a period of time, and a summary of progress made in resolving the risk item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2"/>
          <p:cNvSpPr txBox="1"/>
          <p:nvPr/>
        </p:nvSpPr>
        <p:spPr>
          <a:xfrm>
            <a:off x="406443" y="399618"/>
            <a:ext cx="9329651" cy="653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4400"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Example of Top 10 Risk Item Tracking</a:t>
            </a:r>
          </a:p>
        </p:txBody>
      </p:sp>
      <p:pic>
        <p:nvPicPr>
          <p:cNvPr id="140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0722" y="1360054"/>
            <a:ext cx="10558175" cy="54979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2"/>
          <p:cNvSpPr txBox="1"/>
          <p:nvPr/>
        </p:nvSpPr>
        <p:spPr>
          <a:xfrm>
            <a:off x="426719" y="568036"/>
            <a:ext cx="7833361" cy="653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4400"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Quantitative Risk Analysis</a:t>
            </a:r>
          </a:p>
        </p:txBody>
      </p:sp>
      <p:sp>
        <p:nvSpPr>
          <p:cNvPr id="143" name="Rectangle 3"/>
          <p:cNvSpPr txBox="1"/>
          <p:nvPr/>
        </p:nvSpPr>
        <p:spPr>
          <a:xfrm>
            <a:off x="426719" y="1856508"/>
            <a:ext cx="11227725" cy="4140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Often follows qualitative risk analysis, but both can be done together or separately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800"/>
            </a:p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Large, complex project involving leading edge technologies often require extensive quantitative risk analysis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800"/>
            </a:p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Main techniques include</a:t>
            </a:r>
          </a:p>
          <a:p>
            <a:pPr lvl="1" marL="685800" indent="-228600">
              <a:lnSpc>
                <a:spcPct val="90000"/>
              </a:lnSpc>
              <a:spcBef>
                <a:spcPts val="500"/>
              </a:spcBef>
              <a:buSzPct val="100000"/>
              <a:buFont typeface="Arial"/>
              <a:buChar char="•"/>
              <a:defRPr sz="2400"/>
            </a:pPr>
            <a:r>
              <a:t>Decision tree analysis</a:t>
            </a:r>
          </a:p>
          <a:p>
            <a:pPr lvl="1" marL="685800" indent="-228600">
              <a:lnSpc>
                <a:spcPct val="90000"/>
              </a:lnSpc>
              <a:spcBef>
                <a:spcPts val="500"/>
              </a:spcBef>
              <a:buSzPct val="100000"/>
              <a:buFont typeface="Arial"/>
              <a:buChar char="•"/>
              <a:defRPr sz="2400"/>
            </a:pPr>
            <a:r>
              <a:t>simulation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2"/>
          <p:cNvSpPr txBox="1"/>
          <p:nvPr/>
        </p:nvSpPr>
        <p:spPr>
          <a:xfrm>
            <a:off x="426719" y="706582"/>
            <a:ext cx="11477106" cy="1283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4400"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Decision Trees and Expected Monetary Value (EMV)</a:t>
            </a:r>
          </a:p>
        </p:txBody>
      </p:sp>
      <p:sp>
        <p:nvSpPr>
          <p:cNvPr id="146" name="Rectangle 3"/>
          <p:cNvSpPr txBox="1"/>
          <p:nvPr/>
        </p:nvSpPr>
        <p:spPr>
          <a:xfrm>
            <a:off x="426720" y="2286000"/>
            <a:ext cx="11477105" cy="2284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A decision tree is a diagramming method used to help you select the best course of action in situations in which future outcomes are uncertain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800"/>
            </a:p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EMV is a type of decision tree where you calculate the expected monetary value of a decision based on its risk event probability and monetary value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2"/>
          <p:cNvSpPr txBox="1"/>
          <p:nvPr/>
        </p:nvSpPr>
        <p:spPr>
          <a:xfrm>
            <a:off x="426719" y="630382"/>
            <a:ext cx="7833360" cy="653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4400"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Simulation</a:t>
            </a:r>
          </a:p>
        </p:txBody>
      </p:sp>
      <p:sp>
        <p:nvSpPr>
          <p:cNvPr id="149" name="Rectangle 3"/>
          <p:cNvSpPr txBox="1"/>
          <p:nvPr/>
        </p:nvSpPr>
        <p:spPr>
          <a:xfrm>
            <a:off x="426718" y="1773382"/>
            <a:ext cx="11269289" cy="4124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Simulation uses a representation or model of a system to analyze the expected behavior or performance of the system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800"/>
            </a:p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Monte Carlo analysis simulates a model’s outcome many time to provide a statistical distribution of the calculated results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800"/>
            </a:p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To use a Monte Carlo simulation, you must have three estimates (most likely, pessimistic, and optimistic) plus an estimate of the likelihood of the estimate being between the optimistic and most likely values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2"/>
          <p:cNvSpPr txBox="1"/>
          <p:nvPr/>
        </p:nvSpPr>
        <p:spPr>
          <a:xfrm>
            <a:off x="426719" y="533400"/>
            <a:ext cx="7833361" cy="653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4400"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Risk Response Planning</a:t>
            </a:r>
          </a:p>
        </p:txBody>
      </p:sp>
      <p:sp>
        <p:nvSpPr>
          <p:cNvPr id="152" name="Rectangle 3"/>
          <p:cNvSpPr txBox="1"/>
          <p:nvPr/>
        </p:nvSpPr>
        <p:spPr>
          <a:xfrm>
            <a:off x="426719" y="1835728"/>
            <a:ext cx="11393980" cy="4177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After identifying and quantifying risk, you must decide how to respond to them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800"/>
            </a:p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Four main strategies:</a:t>
            </a:r>
          </a:p>
          <a:p>
            <a:pPr lvl="1" marL="685800" indent="-228600">
              <a:lnSpc>
                <a:spcPct val="90000"/>
              </a:lnSpc>
              <a:spcBef>
                <a:spcPts val="500"/>
              </a:spcBef>
              <a:buSzPct val="100000"/>
              <a:buFont typeface="Arial"/>
              <a:buChar char="•"/>
              <a:defRPr sz="2400"/>
            </a:pPr>
            <a:r>
              <a:t>Risk avoidance: eliminating a specific threat or risk, usually by eliminating its causes</a:t>
            </a:r>
          </a:p>
          <a:p>
            <a:pPr lvl="1" marL="685800" indent="-228600">
              <a:lnSpc>
                <a:spcPct val="90000"/>
              </a:lnSpc>
              <a:spcBef>
                <a:spcPts val="500"/>
              </a:spcBef>
              <a:buSzPct val="100000"/>
              <a:buFont typeface="Arial"/>
              <a:buChar char="•"/>
              <a:defRPr sz="2400"/>
            </a:pPr>
            <a:r>
              <a:t>Risk acceptance: accepting the consequences should a risk occur</a:t>
            </a:r>
          </a:p>
          <a:p>
            <a:pPr lvl="1" marL="685800" indent="-228600">
              <a:lnSpc>
                <a:spcPct val="90000"/>
              </a:lnSpc>
              <a:spcBef>
                <a:spcPts val="500"/>
              </a:spcBef>
              <a:buSzPct val="100000"/>
              <a:buFont typeface="Arial"/>
              <a:buChar char="•"/>
              <a:defRPr sz="2400"/>
            </a:pPr>
            <a:r>
              <a:t>Risk transference:  shifting the consequence of a risk and responsibility for its management to a third party</a:t>
            </a:r>
          </a:p>
          <a:p>
            <a:pPr lvl="1" marL="685800" indent="-228600">
              <a:lnSpc>
                <a:spcPct val="90000"/>
              </a:lnSpc>
              <a:spcBef>
                <a:spcPts val="500"/>
              </a:spcBef>
              <a:buSzPct val="100000"/>
              <a:buFont typeface="Arial"/>
              <a:buChar char="•"/>
              <a:defRPr sz="2400"/>
            </a:pPr>
            <a:r>
              <a:t>Risk mitigation: reducing the impact of a risk event by reducing the probability of its occurrence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ctangle 2"/>
          <p:cNvSpPr txBox="1"/>
          <p:nvPr/>
        </p:nvSpPr>
        <p:spPr>
          <a:xfrm>
            <a:off x="426719" y="282575"/>
            <a:ext cx="11082251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2800"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General Risk Mitigation Strategies for Technical, Cost, and Schedule Risks</a:t>
            </a:r>
          </a:p>
        </p:txBody>
      </p:sp>
      <p:pic>
        <p:nvPicPr>
          <p:cNvPr id="155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0999" y="1080654"/>
            <a:ext cx="10924310" cy="52370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lide Number Placeholder 5"/>
          <p:cNvSpPr txBox="1"/>
          <p:nvPr>
            <p:ph type="sldNum" sz="quarter" idx="4294967295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58" name="Rectangle 2"/>
          <p:cNvSpPr txBox="1"/>
          <p:nvPr>
            <p:ph type="title"/>
          </p:nvPr>
        </p:nvSpPr>
        <p:spPr>
          <a:xfrm>
            <a:off x="526473" y="412751"/>
            <a:ext cx="10515601" cy="1325564"/>
          </a:xfrm>
          <a:prstGeom prst="rect">
            <a:avLst/>
          </a:prstGeom>
        </p:spPr>
        <p:txBody>
          <a:bodyPr/>
          <a:lstStyle>
            <a:lvl1pPr>
              <a:defRPr sz="3600"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/>
            <a:r>
              <a:t>Risk Monitoring and Control</a:t>
            </a:r>
          </a:p>
        </p:txBody>
      </p:sp>
      <p:sp>
        <p:nvSpPr>
          <p:cNvPr id="159" name="Rectangle 3"/>
          <p:cNvSpPr txBox="1"/>
          <p:nvPr>
            <p:ph type="body" idx="1"/>
          </p:nvPr>
        </p:nvSpPr>
        <p:spPr>
          <a:xfrm>
            <a:off x="526473" y="1871663"/>
            <a:ext cx="10515601" cy="4351338"/>
          </a:xfrm>
          <a:prstGeom prst="rect">
            <a:avLst/>
          </a:prstGeom>
        </p:spPr>
        <p:txBody>
          <a:bodyPr/>
          <a:lstStyle/>
          <a:p>
            <a:pPr marL="221742" indent="-221742" defTabSz="886968">
              <a:lnSpc>
                <a:spcPct val="81000"/>
              </a:lnSpc>
              <a:spcBef>
                <a:spcPts val="900"/>
              </a:spcBef>
              <a:defRPr sz="2716"/>
            </a:pPr>
            <a:r>
              <a:t>Monitoring risks involves knowing their status</a:t>
            </a:r>
          </a:p>
          <a:p>
            <a:pPr marL="0" indent="0" defTabSz="886968">
              <a:lnSpc>
                <a:spcPct val="81000"/>
              </a:lnSpc>
              <a:spcBef>
                <a:spcPts val="900"/>
              </a:spcBef>
              <a:buSzTx/>
              <a:buNone/>
              <a:defRPr sz="2716"/>
            </a:pPr>
          </a:p>
          <a:p>
            <a:pPr marL="221742" indent="-221742" defTabSz="886968">
              <a:lnSpc>
                <a:spcPct val="81000"/>
              </a:lnSpc>
              <a:spcBef>
                <a:spcPts val="900"/>
              </a:spcBef>
              <a:defRPr sz="2716"/>
            </a:pPr>
            <a:r>
              <a:t>Controlling risks involves carrying out the risk management plans as risks occur</a:t>
            </a:r>
          </a:p>
          <a:p>
            <a:pPr marL="0" indent="0" defTabSz="886968">
              <a:lnSpc>
                <a:spcPct val="81000"/>
              </a:lnSpc>
              <a:spcBef>
                <a:spcPts val="900"/>
              </a:spcBef>
              <a:buSzTx/>
              <a:buNone/>
              <a:defRPr sz="2716"/>
            </a:pPr>
          </a:p>
          <a:p>
            <a:pPr marL="221742" indent="-221742" defTabSz="886968">
              <a:lnSpc>
                <a:spcPct val="81000"/>
              </a:lnSpc>
              <a:spcBef>
                <a:spcPts val="900"/>
              </a:spcBef>
              <a:defRPr sz="2716"/>
            </a:pPr>
            <a:r>
              <a:t>Workarounds are unplanned responses to risk events that must be done when there are no contingency plans</a:t>
            </a:r>
          </a:p>
          <a:p>
            <a:pPr marL="0" indent="0" defTabSz="886968">
              <a:lnSpc>
                <a:spcPct val="81000"/>
              </a:lnSpc>
              <a:spcBef>
                <a:spcPts val="900"/>
              </a:spcBef>
              <a:buSzTx/>
              <a:buNone/>
              <a:defRPr sz="2716"/>
            </a:pPr>
          </a:p>
          <a:p>
            <a:pPr marL="221742" indent="-221742" defTabSz="886968">
              <a:lnSpc>
                <a:spcPct val="81000"/>
              </a:lnSpc>
              <a:spcBef>
                <a:spcPts val="900"/>
              </a:spcBef>
              <a:defRPr sz="2716"/>
            </a:pPr>
            <a:r>
              <a:t>The main outputs of risk monitoring and control are corrective action, project change requests, and updates to other plans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2"/>
          <p:cNvSpPr txBox="1"/>
          <p:nvPr/>
        </p:nvSpPr>
        <p:spPr>
          <a:xfrm>
            <a:off x="524999" y="671946"/>
            <a:ext cx="8720051" cy="653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4400"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Risk Response Control</a:t>
            </a:r>
          </a:p>
        </p:txBody>
      </p:sp>
      <p:sp>
        <p:nvSpPr>
          <p:cNvPr id="162" name="Rectangle 3"/>
          <p:cNvSpPr txBox="1"/>
          <p:nvPr/>
        </p:nvSpPr>
        <p:spPr>
          <a:xfrm>
            <a:off x="524999" y="2066925"/>
            <a:ext cx="11129445" cy="3728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Risk response control involves executing the risk management processes and the risk management plan to respond to risk events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800"/>
            </a:p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Risks must be monitored based on defined milestones and decisions made regarding risks and mitigation strategies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800"/>
            </a:p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Sometimes workarounds or unplanned responses to risk events are needed when there are no contingency plans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2"/>
          <p:cNvSpPr txBox="1"/>
          <p:nvPr/>
        </p:nvSpPr>
        <p:spPr>
          <a:xfrm>
            <a:off x="426719" y="755071"/>
            <a:ext cx="10410306" cy="653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4400"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Results of Good Project Risk Management</a:t>
            </a:r>
          </a:p>
        </p:txBody>
      </p:sp>
      <p:sp>
        <p:nvSpPr>
          <p:cNvPr id="165" name="Rectangle 3"/>
          <p:cNvSpPr txBox="1"/>
          <p:nvPr/>
        </p:nvSpPr>
        <p:spPr>
          <a:xfrm>
            <a:off x="426720" y="2286000"/>
            <a:ext cx="11123815" cy="37280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Unlike crisis management, good project risk management often goes unnoticed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800"/>
            </a:p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Well-run projects appear to be almost effortless, but a lot of work goes into running a project well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 sz="2800"/>
            </a:p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  <a:r>
              <a:t>Project managers should strive to make their jobs look easy to reflect the results of well-run projects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Box 1"/>
          <p:cNvSpPr txBox="1"/>
          <p:nvPr/>
        </p:nvSpPr>
        <p:spPr>
          <a:xfrm>
            <a:off x="4243647" y="2514600"/>
            <a:ext cx="8366761" cy="790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5400"/>
            </a:lvl1pPr>
          </a:lstStyle>
          <a:p>
            <a:pPr/>
            <a:r>
              <a:t>THANK 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