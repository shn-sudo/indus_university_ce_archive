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8CA"/>
          </a:solidFill>
        </a:fill>
      </a:tcStyle>
    </a:wholeTbl>
    <a:band2H>
      <a:tcTxStyle b="def" i="def"/>
      <a:tcStyle>
        <a:tcBdr/>
        <a:fill>
          <a:solidFill>
            <a:srgbClr val="FAEC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" name="Rectangle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" name="Line"/>
          <p:cNvSpPr/>
          <p:nvPr/>
        </p:nvSpPr>
        <p:spPr>
          <a:xfrm>
            <a:off x="906462" y="4343400"/>
            <a:ext cx="7405688" cy="0"/>
          </a:xfrm>
          <a:prstGeom prst="line">
            <a:avLst/>
          </a:prstGeom>
          <a:ln w="6350">
            <a:solidFill>
              <a:srgbClr val="7F7F7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" name="Rectangle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3" name="Line"/>
          <p:cNvSpPr/>
          <p:nvPr/>
        </p:nvSpPr>
        <p:spPr>
          <a:xfrm>
            <a:off x="906462" y="4343400"/>
            <a:ext cx="7405688" cy="0"/>
          </a:xfrm>
          <a:prstGeom prst="line">
            <a:avLst/>
          </a:prstGeom>
          <a:ln w="6350">
            <a:solidFill>
              <a:srgbClr val="7F7F7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itle Text"/>
          <p:cNvSpPr txBox="1"/>
          <p:nvPr>
            <p:ph type="title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idx="1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4" name="Rectangle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3" name="Rectangle"/>
          <p:cNvSpPr/>
          <p:nvPr/>
        </p:nvSpPr>
        <p:spPr>
          <a:xfrm>
            <a:off x="3030537" y="0"/>
            <a:ext cx="47626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4" name="Title Text"/>
          <p:cNvSpPr txBox="1"/>
          <p:nvPr>
            <p:ph type="title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idx="1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37052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64" name="Rectangle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65" name="Title Text"/>
          <p:cNvSpPr txBox="1"/>
          <p:nvPr>
            <p:ph type="title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6" name="Body Level One…"/>
          <p:cNvSpPr txBox="1"/>
          <p:nvPr>
            <p:ph type="body" idx="1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5" name="Rectangle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6" name="Title Text"/>
          <p:cNvSpPr txBox="1"/>
          <p:nvPr>
            <p:ph type="title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idx="1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" y="6400800"/>
            <a:ext cx="9144002" cy="4572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" name="Rectangle"/>
          <p:cNvSpPr/>
          <p:nvPr/>
        </p:nvSpPr>
        <p:spPr>
          <a:xfrm>
            <a:off x="-1" y="6334125"/>
            <a:ext cx="9144002" cy="6667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" name="Line"/>
          <p:cNvSpPr/>
          <p:nvPr/>
        </p:nvSpPr>
        <p:spPr>
          <a:xfrm>
            <a:off x="895350" y="1738312"/>
            <a:ext cx="7475538" cy="1"/>
          </a:xfrm>
          <a:prstGeom prst="line">
            <a:avLst/>
          </a:prstGeom>
          <a:ln w="6350">
            <a:solidFill>
              <a:srgbClr val="7F7F7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6" name="Title Text"/>
          <p:cNvSpPr txBox="1"/>
          <p:nvPr>
            <p:ph type="title"/>
          </p:nvPr>
        </p:nvSpPr>
        <p:spPr>
          <a:xfrm>
            <a:off x="457200" y="0"/>
            <a:ext cx="82296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/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0404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90487" marR="0" indent="-9048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1pPr>
      <a:lvl2pPr marL="330426" marR="0" indent="-130401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2pPr>
      <a:lvl3pPr marL="644978" marR="0" indent="-260803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3pPr>
      <a:lvl4pPr marL="769584" marR="0" indent="-20284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4pPr>
      <a:lvl5pPr marL="952147" marR="0" indent="-20284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5pPr>
      <a:lvl6pPr marL="1409347" marR="0" indent="-20284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6pPr>
      <a:lvl7pPr marL="1866547" marR="0" indent="-20284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7pPr>
      <a:lvl8pPr marL="2323747" marR="0" indent="-20284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8pPr>
      <a:lvl9pPr marL="2780947" marR="0" indent="-202847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"/>
        <a:tabLst/>
        <a:defRPr b="0" baseline="0" cap="none" i="0" spc="0" strike="noStrike" sz="2000" u="none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What is an Entrepreneur?…"/>
          <p:cNvSpPr txBox="1"/>
          <p:nvPr/>
        </p:nvSpPr>
        <p:spPr>
          <a:xfrm>
            <a:off x="655319" y="1828800"/>
            <a:ext cx="7947661" cy="2921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spcBef>
                <a:spcPts val="2100"/>
              </a:spcBef>
              <a:defRPr b="1" sz="3600">
                <a:solidFill>
                  <a:srgbClr val="AB620E"/>
                </a:solidFill>
              </a:defRPr>
            </a:pPr>
            <a:r>
              <a:t>What is an Entrepreneur?</a:t>
            </a:r>
          </a:p>
          <a:p>
            <a:pPr algn="ctr" defTabSz="914400">
              <a:spcBef>
                <a:spcPts val="1000"/>
              </a:spcBef>
              <a:defRPr b="1" sz="3600">
                <a:solidFill>
                  <a:srgbClr val="AB620E"/>
                </a:solidFill>
              </a:defRPr>
            </a:pPr>
          </a:p>
          <a:p>
            <a:pPr algn="ctr" defTabSz="914400">
              <a:defRPr sz="36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An individual who undertakes the </a:t>
            </a:r>
          </a:p>
          <a:p>
            <a:pPr algn="ctr" defTabSz="914400">
              <a:defRPr sz="36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risk associated with creating, organizing, </a:t>
            </a:r>
          </a:p>
          <a:p>
            <a:pPr algn="ctr" defTabSz="914400">
              <a:defRPr sz="36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and owning a business.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ersonal Characteristics of Successful Entrepreneurs"/>
          <p:cNvSpPr txBox="1"/>
          <p:nvPr/>
        </p:nvSpPr>
        <p:spPr>
          <a:xfrm>
            <a:off x="807719" y="228600"/>
            <a:ext cx="7680961" cy="1339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spcBef>
                <a:spcPts val="2600"/>
              </a:spcBef>
              <a:defRPr sz="4400">
                <a:solidFill>
                  <a:srgbClr val="AB620E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Personal Characteristics of Successful Entrepreneurs</a:t>
            </a:r>
          </a:p>
        </p:txBody>
      </p:sp>
      <p:sp>
        <p:nvSpPr>
          <p:cNvPr id="91" name="Persistent…"/>
          <p:cNvSpPr txBox="1"/>
          <p:nvPr/>
        </p:nvSpPr>
        <p:spPr>
          <a:xfrm>
            <a:off x="1188719" y="2362200"/>
            <a:ext cx="2956562" cy="271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Persistent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Creative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Responsible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Inquisitive</a:t>
            </a:r>
          </a:p>
        </p:txBody>
      </p:sp>
      <p:sp>
        <p:nvSpPr>
          <p:cNvPr id="92" name="Goal-oriented…"/>
          <p:cNvSpPr txBox="1"/>
          <p:nvPr/>
        </p:nvSpPr>
        <p:spPr>
          <a:xfrm>
            <a:off x="5151120" y="2330450"/>
            <a:ext cx="3185161" cy="271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Goal-oriented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Independent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Self-confident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Risk taker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2" grpId="3"/>
      <p:bldP build="p" bldLvl="5" animBg="1" rev="0" advAuto="0" spid="91" grpId="2"/>
      <p:bldP build="whole" bldLvl="1" animBg="1" rev="0" advAuto="0" spid="9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kills Needed by Successful Entrepreneurs"/>
          <p:cNvSpPr txBox="1"/>
          <p:nvPr/>
        </p:nvSpPr>
        <p:spPr>
          <a:xfrm>
            <a:off x="121920" y="128587"/>
            <a:ext cx="8976360" cy="129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spcBef>
                <a:spcPts val="2500"/>
              </a:spcBef>
              <a:defRPr sz="4200">
                <a:solidFill>
                  <a:srgbClr val="AB620E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Skills Needed by Successful Entrepreneurs</a:t>
            </a:r>
          </a:p>
        </p:txBody>
      </p:sp>
      <p:sp>
        <p:nvSpPr>
          <p:cNvPr id="96" name="Communication skills…"/>
          <p:cNvSpPr txBox="1"/>
          <p:nvPr/>
        </p:nvSpPr>
        <p:spPr>
          <a:xfrm>
            <a:off x="350520" y="1143000"/>
            <a:ext cx="8747760" cy="482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Communication skills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Human relations skills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Math skills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Problem-solving &amp; Decision-making skills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Technical skills</a:t>
            </a:r>
          </a:p>
          <a:p>
            <a:pPr defTabSz="914400">
              <a:spcBef>
                <a:spcPts val="1900"/>
              </a:spcBef>
              <a:buSzPct val="100000"/>
              <a:buChar char="•"/>
              <a:defRPr sz="3200"/>
            </a:pPr>
            <a:r>
              <a:t>Basic Business skills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6" grpId="2"/>
      <p:bldP build="whole" bldLvl="1" animBg="1" rev="0" advAuto="0" spid="9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Entrepreneurship and the Entrepreneurial Process"/>
          <p:cNvSpPr txBox="1"/>
          <p:nvPr/>
        </p:nvSpPr>
        <p:spPr>
          <a:xfrm>
            <a:off x="280670" y="504825"/>
            <a:ext cx="8595360" cy="2904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spcBef>
                <a:spcPts val="3200"/>
              </a:spcBef>
              <a:defRPr sz="5400">
                <a:solidFill>
                  <a:srgbClr val="AB620E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 </a:t>
            </a:r>
          </a:p>
          <a:p>
            <a:pPr algn="ctr" defTabSz="914400">
              <a:spcBef>
                <a:spcPts val="3200"/>
              </a:spcBef>
              <a:defRPr sz="5400">
                <a:solidFill>
                  <a:srgbClr val="AB620E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Entrepreneurship and the Entrepreneurial Process</a:t>
            </a:r>
          </a:p>
        </p:txBody>
      </p:sp>
      <p:sp>
        <p:nvSpPr>
          <p:cNvPr id="100" name="Understand entrepreneurship…"/>
          <p:cNvSpPr txBox="1"/>
          <p:nvPr/>
        </p:nvSpPr>
        <p:spPr>
          <a:xfrm>
            <a:off x="502919" y="3505200"/>
            <a:ext cx="8366761" cy="1624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defRPr sz="32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Understand entrepreneurship </a:t>
            </a:r>
          </a:p>
          <a:p>
            <a:pPr algn="ctr" defTabSz="914400">
              <a:defRPr sz="32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and the entrepreneurial process.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Entrepreneurship vs. Entrepreneurs"/>
          <p:cNvSpPr txBox="1"/>
          <p:nvPr>
            <p:ph type="title" idx="4294967295"/>
          </p:nvPr>
        </p:nvSpPr>
        <p:spPr>
          <a:xfrm>
            <a:off x="-1" y="287337"/>
            <a:ext cx="9144002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 sz="4300"/>
            </a:pPr>
            <a:br/>
            <a:r>
              <a:rPr>
                <a:solidFill>
                  <a:srgbClr val="AB620E"/>
                </a:solidFill>
              </a:rPr>
              <a:t>Entrepreneurship vs. Entrepreneurs</a:t>
            </a:r>
          </a:p>
        </p:txBody>
      </p:sp>
      <p:sp>
        <p:nvSpPr>
          <p:cNvPr id="104" name="ENTREPRENEURSHIP"/>
          <p:cNvSpPr txBox="1"/>
          <p:nvPr>
            <p:ph type="body" sz="quarter" idx="4294967295"/>
          </p:nvPr>
        </p:nvSpPr>
        <p:spPr>
          <a:xfrm>
            <a:off x="822325" y="1846262"/>
            <a:ext cx="3703638" cy="736601"/>
          </a:xfrm>
          <a:prstGeom prst="rect">
            <a:avLst/>
          </a:prstGeom>
        </p:spPr>
        <p:txBody>
          <a:bodyPr lIns="45719" tIns="45719" rIns="45719" bIns="45719" anchor="ctr">
            <a:normAutofit fontScale="100000" lnSpcReduction="0"/>
          </a:bodyPr>
          <a:lstStyle>
            <a:lvl1pPr marL="0" indent="0"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ENTREPRENEURSHIP</a:t>
            </a:r>
          </a:p>
        </p:txBody>
      </p:sp>
      <p:sp>
        <p:nvSpPr>
          <p:cNvPr id="105" name="The process of starting and running one’s own business…"/>
          <p:cNvSpPr txBox="1"/>
          <p:nvPr/>
        </p:nvSpPr>
        <p:spPr>
          <a:xfrm>
            <a:off x="822325" y="2628582"/>
            <a:ext cx="3703638" cy="3194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90487" indent="-90487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Calibri"/>
              <a:buChar char=" "/>
              <a:defRPr sz="2000">
                <a:solidFill>
                  <a:srgbClr val="404040"/>
                </a:solidFill>
              </a:defRPr>
            </a:pPr>
            <a:r>
              <a:t>The process of starting and running one’s own business</a:t>
            </a:r>
          </a:p>
          <a:p>
            <a:pPr marL="90487" indent="-90487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Calibri"/>
              <a:buChar char=" "/>
              <a:defRPr sz="2000">
                <a:solidFill>
                  <a:srgbClr val="404040"/>
                </a:solidFill>
              </a:defRPr>
            </a:pPr>
            <a:r>
              <a:t>This involves a considerable amount of risk. </a:t>
            </a:r>
          </a:p>
        </p:txBody>
      </p:sp>
      <p:sp>
        <p:nvSpPr>
          <p:cNvPr id="106" name="ENTREPRENEUR"/>
          <p:cNvSpPr txBox="1"/>
          <p:nvPr/>
        </p:nvSpPr>
        <p:spPr>
          <a:xfrm>
            <a:off x="4709795" y="1846262"/>
            <a:ext cx="361061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1200"/>
              </a:spcBef>
              <a:defRPr b="1" sz="2000"/>
            </a:lvl1pPr>
          </a:lstStyle>
          <a:p>
            <a:pPr/>
            <a:r>
              <a:t>ENTREPRENEUR</a:t>
            </a:r>
          </a:p>
        </p:txBody>
      </p:sp>
      <p:sp>
        <p:nvSpPr>
          <p:cNvPr id="107" name="An entrepreneur is an individual who undertakes the risk associated with creating, organizing, and owning a business."/>
          <p:cNvSpPr txBox="1"/>
          <p:nvPr/>
        </p:nvSpPr>
        <p:spPr>
          <a:xfrm>
            <a:off x="4664075" y="2628582"/>
            <a:ext cx="3702050" cy="3194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90487" indent="-90487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Calibri"/>
              <a:buChar char=" "/>
              <a:defRPr sz="2000">
                <a:solidFill>
                  <a:srgbClr val="404040"/>
                </a:solidFill>
              </a:defRPr>
            </a:lvl1pPr>
          </a:lstStyle>
          <a:p>
            <a:pPr/>
            <a:r>
              <a:t>An entrepreneur is an individual who undertakes the risk associated with creating, organizing, and owning a business.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5 Steps of the  Entrepreneurial Process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>
                <a:solidFill>
                  <a:srgbClr val="AB620E"/>
                </a:solidFill>
              </a:defRPr>
            </a:pPr>
            <a:r>
              <a:t>5 Steps of the </a:t>
            </a:r>
            <a:br/>
            <a:r>
              <a:t>Entrepreneurial Process</a:t>
            </a:r>
          </a:p>
        </p:txBody>
      </p:sp>
      <p:sp>
        <p:nvSpPr>
          <p:cNvPr id="111" name="1. Discovery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1. Discovery</a:t>
            </a:r>
          </a:p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2. Concept Development</a:t>
            </a:r>
          </a:p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3. Resourcing</a:t>
            </a:r>
          </a:p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4. Actualization</a:t>
            </a:r>
          </a:p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5. Harvesting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tep 1: Discovery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Step 1: Discovery</a:t>
            </a:r>
          </a:p>
        </p:txBody>
      </p:sp>
      <p:sp>
        <p:nvSpPr>
          <p:cNvPr id="115" name="The stage in which the entrepreneur generates ideas, recognizes opportunities, and studies the market.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lnSpc>
                <a:spcPct val="70000"/>
              </a:lnSpc>
              <a:buChar char=" "/>
              <a:defRPr sz="3300"/>
            </a:pPr>
            <a:r>
              <a:t>The stage in which the entrepreneur generates ideas, recognizes opportunities, and studies the market. </a:t>
            </a:r>
          </a:p>
          <a:p>
            <a:pPr>
              <a:lnSpc>
                <a:spcPct val="70000"/>
              </a:lnSpc>
              <a:buChar char=" "/>
              <a:defRPr sz="3000"/>
            </a:pPr>
          </a:p>
          <a:p>
            <a:pPr>
              <a:lnSpc>
                <a:spcPct val="7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Entrepreneurs consider the following: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Hobbies or Skills 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Consumer Needs and Wants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Conduct Surveys and Questionnaires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Study Demographics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tep 2: Concept Development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Step 2: Concept Development</a:t>
            </a:r>
          </a:p>
        </p:txBody>
      </p:sp>
      <p:sp>
        <p:nvSpPr>
          <p:cNvPr id="119" name="Entrepreneurs prepare the following in this step:…"/>
          <p:cNvSpPr txBox="1"/>
          <p:nvPr>
            <p:ph type="body" idx="4294967295"/>
          </p:nvPr>
        </p:nvSpPr>
        <p:spPr>
          <a:xfrm>
            <a:off x="381000" y="1922462"/>
            <a:ext cx="8382000" cy="440213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Char char=" "/>
              <a:defRPr b="1" sz="3200">
                <a:solidFill>
                  <a:srgbClr val="AB620E"/>
                </a:solidFill>
              </a:defRPr>
            </a:pPr>
            <a:r>
              <a:t>Entrepreneurs prepare the following in this step:</a:t>
            </a:r>
          </a:p>
          <a:p>
            <a:pPr>
              <a:buChar char=" "/>
              <a:defRPr sz="2400"/>
            </a:pPr>
            <a:r>
              <a:t>Develop a Business Plan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A detailed proposal describing the business idea</a:t>
            </a:r>
          </a:p>
          <a:p>
            <a:pPr>
              <a:buChar char=" "/>
              <a:defRPr sz="2400"/>
            </a:pPr>
            <a:r>
              <a:t>Choose Location for the Business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Is the business online or does it have a physical location for customers to visit to purchase products, services or combinations.</a:t>
            </a:r>
          </a:p>
          <a:p>
            <a:pPr>
              <a:buChar char=" "/>
              <a:defRPr sz="2400"/>
            </a:pPr>
            <a:r>
              <a:t>Decide if the idea will need a Patent or Trademark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1900"/>
            </a:pPr>
            <a:r>
              <a:t>Patent – 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1900"/>
            </a:pPr>
            <a:r>
              <a:t>Trademark - 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tep 3: Resourcing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Step 3: Resourcing</a:t>
            </a:r>
          </a:p>
        </p:txBody>
      </p:sp>
      <p:sp>
        <p:nvSpPr>
          <p:cNvPr id="123" name="The stage in which the entrepreneur identifies and acquires the financial, human, and capital resources needed for the venture startup, etc.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lnSpc>
                <a:spcPct val="70000"/>
              </a:lnSpc>
              <a:buChar char=" "/>
              <a:defRPr sz="3300"/>
            </a:pPr>
            <a:r>
              <a:t>The stage in which the entrepreneur identifies and acquires the financial, human, and capital resources needed for the venture startup, etc.</a:t>
            </a:r>
          </a:p>
          <a:p>
            <a:pPr>
              <a:lnSpc>
                <a:spcPct val="70000"/>
              </a:lnSpc>
              <a:buChar char=" "/>
              <a:defRPr sz="3000"/>
            </a:pPr>
          </a:p>
          <a:p>
            <a:pPr>
              <a:lnSpc>
                <a:spcPct val="7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Entrepreneurs contemplate the following: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Identify Potential Investors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Apply for loans, grants and financial assistance</a:t>
            </a:r>
          </a:p>
          <a:p>
            <a:pPr>
              <a:lnSpc>
                <a:spcPct val="70000"/>
              </a:lnSpc>
              <a:buChar char=" "/>
              <a:defRPr sz="2200"/>
            </a:pPr>
            <a:r>
              <a:t>Hire employees</a:t>
            </a:r>
          </a:p>
        </p:txBody>
      </p:sp>
      <p:sp>
        <p:nvSpPr>
          <p:cNvPr id="124" name="Slide Number"/>
          <p:cNvSpPr txBox="1"/>
          <p:nvPr>
            <p:ph type="sldNum" sz="quarter" idx="2"/>
          </p:nvPr>
        </p:nvSpPr>
        <p:spPr>
          <a:xfrm>
            <a:off x="8240479" y="6527844"/>
            <a:ext cx="168509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tep 4: Actualization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Step 4: Actualization</a:t>
            </a:r>
          </a:p>
        </p:txBody>
      </p:sp>
      <p:sp>
        <p:nvSpPr>
          <p:cNvPr id="127" name="The stage in which the entrepreneur operates the business and utilizes resources to achieve its goals / objectives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lnSpc>
                <a:spcPct val="80000"/>
              </a:lnSpc>
              <a:buChar char=" "/>
              <a:defRPr sz="3600"/>
            </a:pPr>
            <a:r>
              <a:t>The stage in which the entrepreneur operates the business and utilizes resources to achieve its goals / objectives</a:t>
            </a:r>
          </a:p>
          <a:p>
            <a:pPr>
              <a:lnSpc>
                <a:spcPct val="80000"/>
              </a:lnSpc>
              <a:buChar char=" "/>
              <a:defRPr sz="3200"/>
            </a:pPr>
          </a:p>
          <a:p>
            <a:pPr>
              <a:lnSpc>
                <a:spcPct val="80000"/>
              </a:lnSpc>
              <a:buChar char=" "/>
              <a:defRPr b="1" sz="3200">
                <a:solidFill>
                  <a:srgbClr val="AB620E"/>
                </a:solidFill>
              </a:defRPr>
            </a:pPr>
            <a:r>
              <a:t>Entrepreneurs prepare for the following:</a:t>
            </a:r>
          </a:p>
          <a:p>
            <a:pPr>
              <a:lnSpc>
                <a:spcPct val="80000"/>
              </a:lnSpc>
              <a:buChar char=" "/>
              <a:defRPr sz="2400"/>
            </a:pPr>
            <a:r>
              <a:t>Grand Opening of the Business</a:t>
            </a:r>
          </a:p>
          <a:p>
            <a:pPr>
              <a:lnSpc>
                <a:spcPct val="80000"/>
              </a:lnSpc>
              <a:buChar char=" "/>
              <a:defRPr sz="2400"/>
            </a:pPr>
            <a:r>
              <a:t>Day to Day Operations of the Business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tep 5: Harvesting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Step 5: Harvesting</a:t>
            </a:r>
          </a:p>
        </p:txBody>
      </p:sp>
      <p:sp>
        <p:nvSpPr>
          <p:cNvPr id="131" name="The stage in which the entrepreneur decides on venture’s future growth, development, or demise.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lnSpc>
                <a:spcPct val="80000"/>
              </a:lnSpc>
              <a:buChar char=" "/>
              <a:defRPr sz="3600"/>
            </a:pPr>
            <a:r>
              <a:t>The stage in which the entrepreneur decides on venture’s future growth, development, or demise.</a:t>
            </a:r>
          </a:p>
          <a:p>
            <a:pPr>
              <a:lnSpc>
                <a:spcPct val="80000"/>
              </a:lnSpc>
              <a:buChar char=" "/>
              <a:defRPr sz="3200"/>
            </a:pPr>
          </a:p>
          <a:p>
            <a:pPr>
              <a:lnSpc>
                <a:spcPct val="80000"/>
              </a:lnSpc>
              <a:buChar char=" "/>
              <a:defRPr b="1" sz="3200">
                <a:solidFill>
                  <a:srgbClr val="AB620E"/>
                </a:solidFill>
              </a:defRPr>
            </a:pPr>
            <a:r>
              <a:t>Entrepreneurs consider the following:</a:t>
            </a:r>
          </a:p>
          <a:p>
            <a:pPr>
              <a:lnSpc>
                <a:spcPct val="80000"/>
              </a:lnSpc>
              <a:buChar char=" "/>
              <a:defRPr sz="2400"/>
            </a:pPr>
            <a:r>
              <a:t>Future Plans for the Business: 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Expansion to additional locations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Company to change structure</a:t>
            </a:r>
          </a:p>
        </p:txBody>
      </p:sp>
      <p:sp>
        <p:nvSpPr>
          <p:cNvPr id="132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tarting a Business"/>
          <p:cNvSpPr txBox="1"/>
          <p:nvPr/>
        </p:nvSpPr>
        <p:spPr>
          <a:xfrm>
            <a:off x="280670" y="504825"/>
            <a:ext cx="8595360" cy="205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spcBef>
                <a:spcPts val="1000"/>
              </a:spcBef>
              <a:defRPr sz="5400">
                <a:solidFill>
                  <a:srgbClr val="AB620E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</a:p>
          <a:p>
            <a:pPr algn="ctr" defTabSz="914400">
              <a:spcBef>
                <a:spcPts val="3200"/>
              </a:spcBef>
              <a:defRPr sz="5400">
                <a:solidFill>
                  <a:srgbClr val="AB620E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Starting a Business</a:t>
            </a:r>
          </a:p>
        </p:txBody>
      </p:sp>
      <p:sp>
        <p:nvSpPr>
          <p:cNvPr id="135" name="Understand the procedures and requirements…"/>
          <p:cNvSpPr txBox="1"/>
          <p:nvPr/>
        </p:nvSpPr>
        <p:spPr>
          <a:xfrm>
            <a:off x="502919" y="3505200"/>
            <a:ext cx="8366761" cy="1624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defRPr sz="32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Understand the procedures and requirements </a:t>
            </a:r>
          </a:p>
          <a:p>
            <a:pPr algn="ctr" defTabSz="914400">
              <a:defRPr sz="32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for starting a business. </a:t>
            </a:r>
          </a:p>
        </p:txBody>
      </p:sp>
      <p:sp>
        <p:nvSpPr>
          <p:cNvPr id="136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tarting a Business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Starting a Business</a:t>
            </a:r>
          </a:p>
        </p:txBody>
      </p:sp>
      <p:sp>
        <p:nvSpPr>
          <p:cNvPr id="139" name="1. Develop a Business Plan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1. Develop a Business Plan</a:t>
            </a:r>
          </a:p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2. Acquire Finances</a:t>
            </a:r>
          </a:p>
          <a:p>
            <a:pPr>
              <a:buChar char=" "/>
              <a:defRPr sz="4000">
                <a:solidFill>
                  <a:srgbClr val="000000"/>
                </a:solidFill>
              </a:defRPr>
            </a:pPr>
            <a:r>
              <a:t>3. Meet Legal Requirements</a:t>
            </a: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Develop a Business Plan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Develop a Business Plan</a:t>
            </a:r>
          </a:p>
        </p:txBody>
      </p:sp>
      <p:sp>
        <p:nvSpPr>
          <p:cNvPr id="143" name="A Business Plan is a detailed proposal that describes a new business.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buChar char=" "/>
              <a:defRPr sz="3600"/>
            </a:pPr>
            <a:r>
              <a:t>A Business Plan is a detailed proposal that describes a new business.</a:t>
            </a:r>
          </a:p>
          <a:p>
            <a:pPr>
              <a:buChar char=" "/>
              <a:defRPr b="1" sz="3200">
                <a:solidFill>
                  <a:srgbClr val="AB620E"/>
                </a:solidFill>
              </a:defRPr>
            </a:pPr>
          </a:p>
          <a:p>
            <a:pPr>
              <a:buChar char=" "/>
              <a:defRPr b="1" sz="3200">
                <a:solidFill>
                  <a:srgbClr val="AB620E"/>
                </a:solidFill>
              </a:defRPr>
            </a:pPr>
            <a:r>
              <a:t>Business Plans are: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Presented to potential investors and lenders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Most business plans are 30+ pages</a:t>
            </a:r>
          </a:p>
        </p:txBody>
      </p:sp>
      <p:sp>
        <p:nvSpPr>
          <p:cNvPr id="144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urposes of a Business Plan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Purposes of a Business Plan</a:t>
            </a:r>
          </a:p>
        </p:txBody>
      </p:sp>
      <p:sp>
        <p:nvSpPr>
          <p:cNvPr id="147" name="Business Plans are used to: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Char char=" "/>
              <a:defRPr b="1" sz="3200">
                <a:solidFill>
                  <a:srgbClr val="AB620E"/>
                </a:solidFill>
              </a:defRPr>
            </a:pPr>
            <a:r>
              <a:t>Business Plans are used to: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400"/>
            </a:pPr>
            <a:r>
              <a:t>Obtain Financing</a:t>
            </a:r>
          </a:p>
          <a:p>
            <a:pPr lvl="2" marL="566737" indent="-182562">
              <a:lnSpc>
                <a:spcPct val="100000"/>
              </a:lnSpc>
              <a:spcBef>
                <a:spcPts val="0"/>
              </a:spcBef>
            </a:pPr>
            <a:r>
              <a:t>Banks and Potential Lenders require a business plan</a:t>
            </a:r>
          </a:p>
          <a:p>
            <a:pPr lvl="2" marL="182562" indent="201612">
              <a:lnSpc>
                <a:spcPct val="100000"/>
              </a:lnSpc>
              <a:spcBef>
                <a:spcPts val="0"/>
              </a:spcBef>
              <a:buSzTx/>
              <a:buNone/>
            </a:pP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400"/>
            </a:pPr>
            <a:r>
              <a:t>Helps organize and analyze data critical to new business.</a:t>
            </a:r>
          </a:p>
          <a:p>
            <a:pPr lvl="1" marL="182562" indent="17462">
              <a:lnSpc>
                <a:spcPct val="100000"/>
              </a:lnSpc>
              <a:spcBef>
                <a:spcPts val="400"/>
              </a:spcBef>
              <a:buSzTx/>
              <a:buNone/>
              <a:defRPr sz="2400"/>
            </a:pP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400"/>
            </a:pPr>
            <a:r>
              <a:t>Provides a start-up proposal</a:t>
            </a:r>
          </a:p>
          <a:p>
            <a:pPr lvl="2" marL="566737" indent="-182562">
              <a:lnSpc>
                <a:spcPct val="100000"/>
              </a:lnSpc>
              <a:spcBef>
                <a:spcPts val="0"/>
              </a:spcBef>
            </a:pPr>
            <a:r>
              <a:t>Provides and outline to follow when starting the business. </a:t>
            </a:r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omponents of a Business Plan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 sz="4300">
                <a:solidFill>
                  <a:srgbClr val="AB620E"/>
                </a:solidFill>
              </a:defRPr>
            </a:pPr>
            <a:br/>
            <a:r>
              <a:t>Components of a Business Plan</a:t>
            </a:r>
          </a:p>
        </p:txBody>
      </p:sp>
      <p:sp>
        <p:nvSpPr>
          <p:cNvPr id="151" name="Executive Summary: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lnSpc>
                <a:spcPct val="8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Executive Summary: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Brief one to two page description of the key points of each section of the business plan</a:t>
            </a:r>
          </a:p>
          <a:p>
            <a:pPr>
              <a:lnSpc>
                <a:spcPct val="8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Product/Service Plan: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Presents Product or Service being offered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Unique features of the Product or Service</a:t>
            </a:r>
          </a:p>
          <a:p>
            <a:pPr>
              <a:lnSpc>
                <a:spcPct val="8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Management Team Plan: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Qualifications of the Entrepreneur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Qualifications of any Partners who may be involved in the business venture</a:t>
            </a:r>
          </a:p>
        </p:txBody>
      </p:sp>
      <p:sp>
        <p:nvSpPr>
          <p:cNvPr id="152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omponents of a Business Plan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 sz="4300">
                <a:solidFill>
                  <a:srgbClr val="AB620E"/>
                </a:solidFill>
              </a:defRPr>
            </a:pPr>
            <a:br/>
            <a:r>
              <a:t>Components of a Business Plan</a:t>
            </a:r>
          </a:p>
        </p:txBody>
      </p:sp>
      <p:sp>
        <p:nvSpPr>
          <p:cNvPr id="155" name="Industry/Market Analysis:…"/>
          <p:cNvSpPr txBox="1"/>
          <p:nvPr>
            <p:ph type="body" idx="4294967295"/>
          </p:nvPr>
        </p:nvSpPr>
        <p:spPr>
          <a:xfrm>
            <a:off x="822325" y="1846262"/>
            <a:ext cx="7543800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lnSpc>
                <a:spcPct val="8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Industry/Market Analysis: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Analyzes the: Customers / Competition / Industry / Demographic / Geographic and Economic data</a:t>
            </a:r>
          </a:p>
          <a:p>
            <a:pPr>
              <a:lnSpc>
                <a:spcPct val="8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Operational Plan: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Includes all processes involved in producing and/or delivering the product or service to the customer</a:t>
            </a:r>
          </a:p>
          <a:p>
            <a:pPr>
              <a:lnSpc>
                <a:spcPct val="80000"/>
              </a:lnSpc>
              <a:buChar char=" "/>
              <a:defRPr b="1" sz="3000">
                <a:solidFill>
                  <a:srgbClr val="AB620E"/>
                </a:solidFill>
              </a:defRPr>
            </a:pPr>
            <a:r>
              <a:t>Organizational Plan: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Management philosophy of the business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Key management personnel</a:t>
            </a:r>
          </a:p>
          <a:p>
            <a:pPr lvl="1" marL="382587" indent="-182562">
              <a:lnSpc>
                <a:spcPct val="80000"/>
              </a:lnSpc>
              <a:spcBef>
                <a:spcPts val="400"/>
              </a:spcBef>
              <a:defRPr sz="2200"/>
            </a:pPr>
            <a:r>
              <a:t>Key employment policies</a:t>
            </a:r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omponents of a Business Plan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 sz="4300">
                <a:solidFill>
                  <a:srgbClr val="AB620E"/>
                </a:solidFill>
              </a:defRPr>
            </a:pPr>
            <a:br/>
            <a:r>
              <a:t>Components of a Business Plan</a:t>
            </a:r>
          </a:p>
        </p:txBody>
      </p:sp>
      <p:sp>
        <p:nvSpPr>
          <p:cNvPr id="159" name="Marketing Plan:…"/>
          <p:cNvSpPr txBox="1"/>
          <p:nvPr>
            <p:ph type="body" idx="4294967295"/>
          </p:nvPr>
        </p:nvSpPr>
        <p:spPr>
          <a:xfrm>
            <a:off x="228599" y="1846262"/>
            <a:ext cx="8763002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Char char=" "/>
              <a:defRPr b="1" sz="3000">
                <a:solidFill>
                  <a:srgbClr val="AB620E"/>
                </a:solidFill>
              </a:defRPr>
            </a:pPr>
            <a:r>
              <a:t>Marketing Plan: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1900"/>
            </a:pPr>
            <a:r>
              <a:t>Describes how the business will make its customers aware of its products/ services.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1900"/>
            </a:pPr>
            <a:r>
              <a:t>The Market being served / Marketing Strategies /  Promotional Plan / Marketing Budget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</a:p>
          <a:p>
            <a:pPr lvl="1" marL="182562" indent="17462">
              <a:lnSpc>
                <a:spcPct val="100000"/>
              </a:lnSpc>
              <a:spcBef>
                <a:spcPts val="400"/>
              </a:spcBef>
              <a:buSzTx/>
              <a:buNone/>
              <a:defRPr b="1" sz="3000">
                <a:solidFill>
                  <a:srgbClr val="AB620E"/>
                </a:solidFill>
              </a:defRPr>
            </a:pPr>
            <a:r>
              <a:t>Growth Plan: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Presents plan for future expansion of the business</a:t>
            </a:r>
          </a:p>
          <a:p>
            <a:pPr>
              <a:buChar char=" "/>
              <a:defRPr b="1" sz="3000">
                <a:solidFill>
                  <a:srgbClr val="AB620E"/>
                </a:solidFill>
              </a:defRPr>
            </a:pPr>
            <a:r>
              <a:t>Financial Plan: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Includes financial statements that will help forecast the future financial health of the business.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inance the Business"/>
          <p:cNvSpPr txBox="1"/>
          <p:nvPr>
            <p:ph type="title" idx="4294967295"/>
          </p:nvPr>
        </p:nvSpPr>
        <p:spPr>
          <a:xfrm>
            <a:off x="822325" y="287337"/>
            <a:ext cx="7543800" cy="14493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>
                <a:solidFill>
                  <a:srgbClr val="AB620E"/>
                </a:solidFill>
              </a:defRPr>
            </a:lvl1pPr>
          </a:lstStyle>
          <a:p>
            <a:pPr/>
            <a:r>
              <a:t>Finance the Business</a:t>
            </a:r>
          </a:p>
        </p:txBody>
      </p:sp>
      <p:sp>
        <p:nvSpPr>
          <p:cNvPr id="163" name="Identify Potential Investors…"/>
          <p:cNvSpPr txBox="1"/>
          <p:nvPr>
            <p:ph type="body" idx="4294967295"/>
          </p:nvPr>
        </p:nvSpPr>
        <p:spPr>
          <a:xfrm>
            <a:off x="822325" y="1846262"/>
            <a:ext cx="8016875" cy="40227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buChar char=" "/>
              <a:defRPr sz="3600"/>
            </a:pPr>
            <a:r>
              <a:t>Identify Potential Investors</a:t>
            </a:r>
          </a:p>
          <a:p>
            <a:pPr>
              <a:buChar char=" "/>
              <a:defRPr b="1" sz="3200">
                <a:solidFill>
                  <a:srgbClr val="AB620E"/>
                </a:solidFill>
              </a:defRPr>
            </a:pPr>
            <a:r>
              <a:t>Examples: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Family and Friends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Other Businesses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Employees</a:t>
            </a:r>
          </a:p>
          <a:p>
            <a:pPr>
              <a:buChar char=" "/>
              <a:defRPr b="1" sz="2200">
                <a:solidFill>
                  <a:srgbClr val="AB620E"/>
                </a:solidFill>
              </a:defRPr>
            </a:pPr>
            <a:r>
              <a:t>Contact Financial Agencies for loans, grants and financial assistance: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Small Business Administration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Banks / Credit Unions</a:t>
            </a:r>
          </a:p>
          <a:p>
            <a:pPr lvl="1" marL="382587" indent="-182562">
              <a:lnSpc>
                <a:spcPct val="100000"/>
              </a:lnSpc>
              <a:spcBef>
                <a:spcPts val="400"/>
              </a:spcBef>
              <a:defRPr sz="2200"/>
            </a:pPr>
            <a:r>
              <a:t>Insurance Companies</a:t>
            </a:r>
          </a:p>
        </p:txBody>
      </p:sp>
      <p:sp>
        <p:nvSpPr>
          <p:cNvPr id="164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HANK YOU"/>
          <p:cNvSpPr txBox="1"/>
          <p:nvPr>
            <p:ph type="title" idx="4294967295"/>
          </p:nvPr>
        </p:nvSpPr>
        <p:spPr>
          <a:xfrm>
            <a:off x="822325" y="758825"/>
            <a:ext cx="7543800" cy="356552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67" name="Slide Number"/>
          <p:cNvSpPr txBox="1"/>
          <p:nvPr>
            <p:ph type="sldNum" sz="quarter" idx="2"/>
          </p:nvPr>
        </p:nvSpPr>
        <p:spPr>
          <a:xfrm>
            <a:off x="8176111" y="6527844"/>
            <a:ext cx="232877" cy="2285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8312"/>
      </a:accent1>
      <a:accent2>
        <a:srgbClr val="BD582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Retrospect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8312"/>
      </a:accent1>
      <a:accent2>
        <a:srgbClr val="BD582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Retrospect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