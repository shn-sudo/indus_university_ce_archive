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9" name="Shape 39"/>
          <p:cNvSpPr/>
          <p:nvPr>
            <p:ph type="sldImg"/>
          </p:nvPr>
        </p:nvSpPr>
        <p:spPr>
          <a:xfrm>
            <a:off x="1143000" y="685800"/>
            <a:ext cx="4572000" cy="3429000"/>
          </a:xfrm>
          <a:prstGeom prst="rect">
            <a:avLst/>
          </a:prstGeom>
        </p:spPr>
        <p:txBody>
          <a:bodyPr/>
          <a:lstStyle/>
          <a:p>
            <a:pPr/>
          </a:p>
        </p:txBody>
      </p:sp>
      <p:sp>
        <p:nvSpPr>
          <p:cNvPr id="40" name="Shape 4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2" name="Title Text"/>
          <p:cNvSpPr txBox="1"/>
          <p:nvPr>
            <p:ph type="title"/>
          </p:nvPr>
        </p:nvSpPr>
        <p:spPr>
          <a:xfrm>
            <a:off x="2530593" y="1999281"/>
            <a:ext cx="5954889" cy="736777"/>
          </a:xfrm>
          <a:prstGeom prst="rect">
            <a:avLst/>
          </a:prstGeom>
        </p:spPr>
        <p:txBody>
          <a:bodyPr/>
          <a:lstStyle>
            <a:lvl1pPr algn="ctr">
              <a:defRPr i="0" spc="-100" sz="3000"/>
            </a:lvl1pPr>
          </a:lstStyle>
          <a:p>
            <a:pPr/>
            <a:r>
              <a:t>Title Text</a:t>
            </a:r>
          </a:p>
        </p:txBody>
      </p:sp>
      <p:sp>
        <p:nvSpPr>
          <p:cNvPr id="13" name="Body Level One…"/>
          <p:cNvSpPr txBox="1"/>
          <p:nvPr>
            <p:ph type="body" sz="quarter" idx="1"/>
          </p:nvPr>
        </p:nvSpPr>
        <p:spPr>
          <a:xfrm>
            <a:off x="2530593" y="2817815"/>
            <a:ext cx="5954889" cy="491244"/>
          </a:xfrm>
          <a:prstGeom prst="rect">
            <a:avLst/>
          </a:prstGeom>
        </p:spPr>
        <p:txBody>
          <a:bodyPr>
            <a:normAutofit fontScale="100000" lnSpcReduction="0"/>
          </a:bodyPr>
          <a:lstStyle>
            <a:lvl1pPr marL="0" indent="0" algn="ctr">
              <a:spcBef>
                <a:spcPts val="400"/>
              </a:spcBef>
              <a:buClrTx/>
              <a:buSzTx/>
              <a:buFontTx/>
              <a:buNone/>
              <a:defRPr sz="1800">
                <a:solidFill>
                  <a:srgbClr val="E46C0A"/>
                </a:solidFill>
                <a:latin typeface="Helvetica Light"/>
                <a:ea typeface="Helvetica Light"/>
                <a:cs typeface="Helvetica Light"/>
                <a:sym typeface="Helvetica Light"/>
              </a:defRPr>
            </a:lvl1pPr>
            <a:lvl2pPr marL="0" indent="457200" algn="ctr">
              <a:spcBef>
                <a:spcPts val="400"/>
              </a:spcBef>
              <a:buClrTx/>
              <a:buSzTx/>
              <a:buFontTx/>
              <a:buNone/>
              <a:defRPr sz="1800">
                <a:solidFill>
                  <a:srgbClr val="E46C0A"/>
                </a:solidFill>
                <a:latin typeface="Helvetica Light"/>
                <a:ea typeface="Helvetica Light"/>
                <a:cs typeface="Helvetica Light"/>
                <a:sym typeface="Helvetica Light"/>
              </a:defRPr>
            </a:lvl2pPr>
            <a:lvl3pPr marL="0" indent="914400" algn="ctr">
              <a:spcBef>
                <a:spcPts val="400"/>
              </a:spcBef>
              <a:buClrTx/>
              <a:buSzTx/>
              <a:buFontTx/>
              <a:buNone/>
              <a:defRPr sz="1800">
                <a:solidFill>
                  <a:srgbClr val="E46C0A"/>
                </a:solidFill>
                <a:latin typeface="Helvetica Light"/>
                <a:ea typeface="Helvetica Light"/>
                <a:cs typeface="Helvetica Light"/>
                <a:sym typeface="Helvetica Light"/>
              </a:defRPr>
            </a:lvl3pPr>
            <a:lvl4pPr marL="0" indent="1371600" algn="ctr">
              <a:spcBef>
                <a:spcPts val="400"/>
              </a:spcBef>
              <a:buClrTx/>
              <a:buSzTx/>
              <a:buFontTx/>
              <a:buNone/>
              <a:defRPr sz="1800">
                <a:solidFill>
                  <a:srgbClr val="E46C0A"/>
                </a:solidFill>
                <a:latin typeface="Helvetica Light"/>
                <a:ea typeface="Helvetica Light"/>
                <a:cs typeface="Helvetica Light"/>
                <a:sym typeface="Helvetica Light"/>
              </a:defRPr>
            </a:lvl4pPr>
            <a:lvl5pPr marL="0" indent="1828800" algn="ctr">
              <a:spcBef>
                <a:spcPts val="400"/>
              </a:spcBef>
              <a:buClrTx/>
              <a:buSzTx/>
              <a:buFontTx/>
              <a:buNone/>
              <a:defRPr sz="1800">
                <a:solidFill>
                  <a:srgbClr val="E46C0A"/>
                </a:solidFill>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pic>
        <p:nvPicPr>
          <p:cNvPr id="14" name="Picture 6" descr="Picture 6"/>
          <p:cNvPicPr>
            <a:picLocks noChangeAspect="1"/>
          </p:cNvPicPr>
          <p:nvPr/>
        </p:nvPicPr>
        <p:blipFill>
          <a:blip r:embed="rId2">
            <a:extLst/>
          </a:blip>
          <a:stretch>
            <a:fillRect/>
          </a:stretch>
        </p:blipFill>
        <p:spPr>
          <a:xfrm>
            <a:off x="503356" y="1050400"/>
            <a:ext cx="2027237" cy="2640014"/>
          </a:xfrm>
          <a:prstGeom prst="rect">
            <a:avLst/>
          </a:prstGeom>
          <a:ln w="12700">
            <a:miter lim="400000"/>
          </a:ln>
        </p:spPr>
      </p:pic>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Layout">
    <p:spTree>
      <p:nvGrpSpPr>
        <p:cNvPr id="1" name=""/>
        <p:cNvGrpSpPr/>
        <p:nvPr/>
      </p:nvGrpSpPr>
      <p:grpSpPr>
        <a:xfrm>
          <a:off x="0" y="0"/>
          <a:ext cx="0" cy="0"/>
          <a:chOff x="0" y="0"/>
          <a:chExt cx="0" cy="0"/>
        </a:xfrm>
      </p:grpSpPr>
      <p:sp>
        <p:nvSpPr>
          <p:cNvPr id="22" name="Title Text"/>
          <p:cNvSpPr txBox="1"/>
          <p:nvPr>
            <p:ph type="title"/>
          </p:nvPr>
        </p:nvSpPr>
        <p:spPr>
          <a:prstGeom prst="rect">
            <a:avLst/>
          </a:prstGeom>
        </p:spPr>
        <p:txBody>
          <a:bodyPr/>
          <a:lstStyle/>
          <a:p>
            <a:pPr/>
            <a:r>
              <a:t>Title Text</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sp>
        <p:nvSpPr>
          <p:cNvPr id="30" name="Title Text"/>
          <p:cNvSpPr txBox="1"/>
          <p:nvPr>
            <p:ph type="title"/>
          </p:nvPr>
        </p:nvSpPr>
        <p:spPr>
          <a:xfrm>
            <a:off x="457200" y="205978"/>
            <a:ext cx="8229600" cy="857251"/>
          </a:xfrm>
          <a:prstGeom prst="rect">
            <a:avLst/>
          </a:prstGeom>
        </p:spPr>
        <p:txBody>
          <a:bodyPr/>
          <a:lstStyle>
            <a:lvl1pPr>
              <a:defRPr i="0" spc="-100" sz="4000"/>
            </a:lvl1pPr>
          </a:lstStyle>
          <a:p>
            <a:pPr/>
            <a:r>
              <a:t>Title Text</a:t>
            </a:r>
          </a:p>
        </p:txBody>
      </p:sp>
      <p:sp>
        <p:nvSpPr>
          <p:cNvPr id="31" name="Body Level One…"/>
          <p:cNvSpPr txBox="1"/>
          <p:nvPr>
            <p:ph type="body" idx="1"/>
          </p:nvPr>
        </p:nvSpPr>
        <p:spPr>
          <a:xfrm>
            <a:off x="457200" y="1200150"/>
            <a:ext cx="6363171" cy="3632908"/>
          </a:xfrm>
          <a:prstGeom prst="rect">
            <a:avLst/>
          </a:prstGeom>
        </p:spPr>
        <p:txBody>
          <a:bodyPr>
            <a:normAutofit fontScale="100000" lnSpcReduction="0"/>
          </a:bodyPr>
          <a:lstStyle>
            <a:lvl1pPr>
              <a:spcBef>
                <a:spcPts val="400"/>
              </a:spcBef>
              <a:defRPr sz="1800">
                <a:latin typeface="Helvetica Light"/>
                <a:ea typeface="Helvetica Light"/>
                <a:cs typeface="Helvetica Light"/>
                <a:sym typeface="Helvetica Light"/>
              </a:defRPr>
            </a:lvl1pPr>
            <a:lvl2pPr marL="742950" indent="-285750">
              <a:spcBef>
                <a:spcPts val="400"/>
              </a:spcBef>
              <a:defRPr sz="1800">
                <a:latin typeface="Helvetica Light"/>
                <a:ea typeface="Helvetica Light"/>
                <a:cs typeface="Helvetica Light"/>
                <a:sym typeface="Helvetica Light"/>
              </a:defRPr>
            </a:lvl2pPr>
            <a:lvl3pPr marL="1085850" indent="-171450">
              <a:spcBef>
                <a:spcPts val="400"/>
              </a:spcBef>
              <a:defRPr sz="1800">
                <a:latin typeface="Helvetica Light"/>
                <a:ea typeface="Helvetica Light"/>
                <a:cs typeface="Helvetica Light"/>
                <a:sym typeface="Helvetica Light"/>
              </a:defRPr>
            </a:lvl3pPr>
            <a:lvl4pPr marL="1577339" indent="-205739">
              <a:spcBef>
                <a:spcPts val="400"/>
              </a:spcBef>
              <a:defRPr sz="1800">
                <a:latin typeface="Helvetica Light"/>
                <a:ea typeface="Helvetica Light"/>
                <a:cs typeface="Helvetica Light"/>
                <a:sym typeface="Helvetica Light"/>
              </a:defRPr>
            </a:lvl4pPr>
            <a:lvl5pPr marL="2034539" indent="-205739">
              <a:spcBef>
                <a:spcPts val="400"/>
              </a:spcBef>
              <a:defRPr sz="18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pic>
        <p:nvPicPr>
          <p:cNvPr id="32" name="Picture 6" descr="Picture 6"/>
          <p:cNvPicPr>
            <a:picLocks noChangeAspect="1"/>
          </p:cNvPicPr>
          <p:nvPr/>
        </p:nvPicPr>
        <p:blipFill>
          <a:blip r:embed="rId2">
            <a:extLst/>
          </a:blip>
          <a:stretch>
            <a:fillRect/>
          </a:stretch>
        </p:blipFill>
        <p:spPr>
          <a:xfrm>
            <a:off x="8053258" y="3753377"/>
            <a:ext cx="1067460" cy="1390123"/>
          </a:xfrm>
          <a:prstGeom prst="rect">
            <a:avLst/>
          </a:prstGeom>
          <a:ln w="12700">
            <a:miter lim="400000"/>
          </a:ln>
        </p:spPr>
      </p:pic>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EEECE1"/>
        </a:solidFill>
      </p:bgPr>
    </p:bg>
    <p:spTree>
      <p:nvGrpSpPr>
        <p:cNvPr id="1" name=""/>
        <p:cNvGrpSpPr/>
        <p:nvPr/>
      </p:nvGrpSpPr>
      <p:grpSpPr>
        <a:xfrm>
          <a:off x="0" y="0"/>
          <a:ext cx="0" cy="0"/>
          <a:chOff x="0" y="0"/>
          <a:chExt cx="0" cy="0"/>
        </a:xfrm>
      </p:grpSpPr>
      <p:pic>
        <p:nvPicPr>
          <p:cNvPr id="2" name="Picture 6" descr="Picture 6"/>
          <p:cNvPicPr>
            <a:picLocks noChangeAspect="1"/>
          </p:cNvPicPr>
          <p:nvPr/>
        </p:nvPicPr>
        <p:blipFill>
          <a:blip r:embed="rId2">
            <a:extLst/>
          </a:blip>
          <a:stretch>
            <a:fillRect/>
          </a:stretch>
        </p:blipFill>
        <p:spPr>
          <a:xfrm>
            <a:off x="758825" y="148828"/>
            <a:ext cx="2173289" cy="2122885"/>
          </a:xfrm>
          <a:prstGeom prst="rect">
            <a:avLst/>
          </a:prstGeom>
          <a:ln w="12700">
            <a:miter lim="400000"/>
          </a:ln>
        </p:spPr>
      </p:pic>
      <p:sp>
        <p:nvSpPr>
          <p:cNvPr id="3" name="Title Text"/>
          <p:cNvSpPr txBox="1"/>
          <p:nvPr>
            <p:ph type="title"/>
          </p:nvPr>
        </p:nvSpPr>
        <p:spPr>
          <a:xfrm>
            <a:off x="758238" y="2271890"/>
            <a:ext cx="2223911" cy="26176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4" name="Body Level One…"/>
          <p:cNvSpPr txBox="1"/>
          <p:nvPr>
            <p:ph type="body" idx="1"/>
          </p:nvPr>
        </p:nvSpPr>
        <p:spPr>
          <a:xfrm>
            <a:off x="457200" y="1200150"/>
            <a:ext cx="8229600" cy="339447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1pPr>
      <a:lvl2pPr marL="0" marR="0" indent="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2pPr>
      <a:lvl3pPr marL="0" marR="0" indent="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3pPr>
      <a:lvl4pPr marL="0" marR="0" indent="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4pPr>
      <a:lvl5pPr marL="0" marR="0" indent="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5pPr>
      <a:lvl6pPr marL="0" marR="0" indent="45720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6pPr>
      <a:lvl7pPr marL="0" marR="0" indent="91440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7pPr>
      <a:lvl8pPr marL="0" marR="0" indent="137160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8pPr>
      <a:lvl9pPr marL="0" marR="0" indent="1828800" algn="l" defTabSz="457200" rtl="0" latinLnBrk="0">
        <a:lnSpc>
          <a:spcPct val="100000"/>
        </a:lnSpc>
        <a:spcBef>
          <a:spcPts val="0"/>
        </a:spcBef>
        <a:spcAft>
          <a:spcPts val="0"/>
        </a:spcAft>
        <a:buClrTx/>
        <a:buSzTx/>
        <a:buFontTx/>
        <a:buNone/>
        <a:tabLst/>
        <a:defRPr b="0" baseline="0" cap="none" i="1" spc="0" strike="noStrike" sz="1800" u="none">
          <a:solidFill>
            <a:srgbClr val="E46C0A"/>
          </a:solidFill>
          <a:uFillTx/>
          <a:latin typeface="Helvetica Light"/>
          <a:ea typeface="Helvetica Light"/>
          <a:cs typeface="Helvetica Light"/>
          <a:sym typeface="Helvetica Light"/>
        </a:defRPr>
      </a:lvl9pPr>
    </p:titleStyle>
    <p:bodyStyle>
      <a:lvl1pPr marL="342900" marR="0" indent="-342900"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
          <a:srgbClr val="E46C0A"/>
        </a:buClr>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 name="Subtitle 4"/>
          <p:cNvSpPr txBox="1"/>
          <p:nvPr>
            <p:ph type="subTitle" sz="quarter" idx="1"/>
          </p:nvPr>
        </p:nvSpPr>
        <p:spPr>
          <a:xfrm>
            <a:off x="2478858" y="1692599"/>
            <a:ext cx="5954890" cy="491243"/>
          </a:xfrm>
          <a:prstGeom prst="rect">
            <a:avLst/>
          </a:prstGeom>
        </p:spPr>
        <p:txBody>
          <a:bodyPr/>
          <a:lstStyle>
            <a:lvl1pPr>
              <a:defRPr>
                <a:solidFill>
                  <a:srgbClr val="000000"/>
                </a:solidFill>
              </a:defRPr>
            </a:lvl1pPr>
          </a:lstStyle>
          <a:p>
            <a:pPr/>
            <a:r>
              <a:t> Technology Entrepreneurship</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 name="Title 3"/>
          <p:cNvSpPr txBox="1"/>
          <p:nvPr>
            <p:ph type="title"/>
          </p:nvPr>
        </p:nvSpPr>
        <p:spPr>
          <a:prstGeom prst="rect">
            <a:avLst/>
          </a:prstGeom>
        </p:spPr>
        <p:txBody>
          <a:bodyPr/>
          <a:lstStyle/>
          <a:p>
            <a:pPr/>
            <a:r>
              <a:t>Introduction</a:t>
            </a:r>
          </a:p>
        </p:txBody>
      </p:sp>
      <p:sp>
        <p:nvSpPr>
          <p:cNvPr id="45" name="Content Placeholder 4"/>
          <p:cNvSpPr txBox="1"/>
          <p:nvPr>
            <p:ph type="body" idx="1"/>
          </p:nvPr>
        </p:nvSpPr>
        <p:spPr>
          <a:xfrm>
            <a:off x="457200" y="1200150"/>
            <a:ext cx="8229600" cy="3632908"/>
          </a:xfrm>
          <a:prstGeom prst="rect">
            <a:avLst/>
          </a:prstGeom>
        </p:spPr>
        <p:txBody>
          <a:bodyPr/>
          <a:lstStyle/>
          <a:p>
            <a:pPr marL="0" indent="0" algn="just">
              <a:buSzTx/>
              <a:buNone/>
            </a:pPr>
            <a:r>
              <a:t>Technology entrepreneurship – or tech entrepreneurship – is something every aspiring entrepreneur needs to know about.</a:t>
            </a:r>
          </a:p>
          <a:p>
            <a:pPr marL="0" indent="0" algn="just">
              <a:buSzTx/>
              <a:buNone/>
            </a:pPr>
            <a:br/>
            <a:r>
              <a:t>From facebook to Google, and Skype to Snapchat, tech entrepreneurs, have fostered entirely new ways of creating value and doing business – whilst also creating entirely new industries of their own!</a:t>
            </a:r>
          </a:p>
          <a:p>
            <a:pPr marL="0" indent="0" algn="just">
              <a:buSzTx/>
              <a:buNone/>
            </a:pPr>
          </a:p>
          <a:p>
            <a:pPr marL="0" indent="0" algn="just">
              <a:buSzTx/>
              <a:buNone/>
            </a:pPr>
            <a:r>
              <a:t>As a result, the tech-sector has become one of the most important sectors of many developed nations around the globe. A sector that creates huge investment and plenty of economic benefit – not to mention the positive impact it has on peoples lives.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Title 1"/>
          <p:cNvSpPr txBox="1"/>
          <p:nvPr>
            <p:ph type="title"/>
          </p:nvPr>
        </p:nvSpPr>
        <p:spPr>
          <a:prstGeom prst="rect">
            <a:avLst/>
          </a:prstGeom>
        </p:spPr>
        <p:txBody>
          <a:bodyPr/>
          <a:lstStyle>
            <a:lvl1pPr>
              <a:defRPr sz="3200"/>
            </a:lvl1pPr>
          </a:lstStyle>
          <a:p>
            <a:pPr/>
            <a:r>
              <a:t>Technology Entrepreneurship – The Impact</a:t>
            </a:r>
          </a:p>
        </p:txBody>
      </p:sp>
      <p:sp>
        <p:nvSpPr>
          <p:cNvPr id="48" name="Content Placeholder 4"/>
          <p:cNvSpPr txBox="1"/>
          <p:nvPr>
            <p:ph type="body" idx="1"/>
          </p:nvPr>
        </p:nvSpPr>
        <p:spPr>
          <a:xfrm>
            <a:off x="457200" y="1200150"/>
            <a:ext cx="8229600" cy="3632908"/>
          </a:xfrm>
          <a:prstGeom prst="rect">
            <a:avLst/>
          </a:prstGeom>
        </p:spPr>
        <p:txBody>
          <a:bodyPr/>
          <a:lstStyle/>
          <a:p>
            <a:pPr marL="0" indent="0" algn="just">
              <a:lnSpc>
                <a:spcPct val="80000"/>
              </a:lnSpc>
              <a:spcBef>
                <a:spcPts val="300"/>
              </a:spcBef>
              <a:buSzTx/>
              <a:buNone/>
              <a:defRPr sz="1600"/>
            </a:pPr>
            <a:r>
              <a:t>We all know facebook, twitter and google – some of the great examples of tech entrepreneurship. </a:t>
            </a:r>
          </a:p>
          <a:p>
            <a:pPr marL="0" indent="0" algn="just">
              <a:lnSpc>
                <a:spcPct val="80000"/>
              </a:lnSpc>
              <a:spcBef>
                <a:spcPts val="300"/>
              </a:spcBef>
              <a:buSzTx/>
              <a:buNone/>
              <a:defRPr sz="1600"/>
            </a:pPr>
          </a:p>
          <a:p>
            <a:pPr marL="0" indent="0" algn="just">
              <a:lnSpc>
                <a:spcPct val="80000"/>
              </a:lnSpc>
              <a:spcBef>
                <a:spcPts val="300"/>
              </a:spcBef>
              <a:buSzTx/>
              <a:buNone/>
              <a:defRPr sz="1600"/>
            </a:pPr>
            <a:r>
              <a:t>Companies like these have created new industries all on their own, creating billions of dollars of value, boosting economies in the countries from which they grow. </a:t>
            </a:r>
          </a:p>
          <a:p>
            <a:pPr marL="0" indent="0" algn="just">
              <a:lnSpc>
                <a:spcPct val="80000"/>
              </a:lnSpc>
              <a:spcBef>
                <a:spcPts val="300"/>
              </a:spcBef>
              <a:buSzTx/>
              <a:buNone/>
              <a:defRPr sz="1600"/>
            </a:pPr>
          </a:p>
          <a:p>
            <a:pPr marL="0" indent="0" algn="just">
              <a:lnSpc>
                <a:spcPct val="80000"/>
              </a:lnSpc>
              <a:spcBef>
                <a:spcPts val="300"/>
              </a:spcBef>
              <a:buSzTx/>
              <a:buNone/>
              <a:defRPr sz="1600"/>
            </a:pPr>
            <a:r>
              <a:t>Through tech-entrepreneurship comes investment and jobs. Through investment and jobs comes greater competitive advantage on an international scale, which in turn attracts more even investment which can be used to further develop the nation. </a:t>
            </a:r>
          </a:p>
          <a:p>
            <a:pPr marL="0" indent="0" algn="just">
              <a:lnSpc>
                <a:spcPct val="80000"/>
              </a:lnSpc>
              <a:spcBef>
                <a:spcPts val="300"/>
              </a:spcBef>
              <a:buSzTx/>
              <a:buNone/>
              <a:defRPr sz="1600"/>
            </a:pPr>
          </a:p>
          <a:p>
            <a:pPr marL="0" indent="0" algn="just">
              <a:lnSpc>
                <a:spcPct val="80000"/>
              </a:lnSpc>
              <a:spcBef>
                <a:spcPts val="300"/>
              </a:spcBef>
              <a:buSzTx/>
              <a:buNone/>
              <a:defRPr sz="1600"/>
            </a:pPr>
            <a:r>
              <a:t>Countries like Israel, for example, have enjoyed great economic growth thanks to their tech talents – so much so they now boast regions that can compete with the Silicon Valley!</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Title 1"/>
          <p:cNvSpPr txBox="1"/>
          <p:nvPr>
            <p:ph type="title"/>
          </p:nvPr>
        </p:nvSpPr>
        <p:spPr>
          <a:prstGeom prst="rect">
            <a:avLst/>
          </a:prstGeom>
        </p:spPr>
        <p:txBody>
          <a:bodyPr/>
          <a:lstStyle>
            <a:lvl1pPr>
              <a:defRPr sz="3200"/>
            </a:lvl1pPr>
          </a:lstStyle>
          <a:p>
            <a:pPr/>
            <a:r>
              <a:t>Technology Entrepreneurship – The Impact</a:t>
            </a:r>
          </a:p>
        </p:txBody>
      </p:sp>
      <p:sp>
        <p:nvSpPr>
          <p:cNvPr id="51" name="Content Placeholder 3"/>
          <p:cNvSpPr txBox="1"/>
          <p:nvPr>
            <p:ph type="body" idx="1"/>
          </p:nvPr>
        </p:nvSpPr>
        <p:spPr>
          <a:xfrm>
            <a:off x="457200" y="1200150"/>
            <a:ext cx="8229600" cy="3632908"/>
          </a:xfrm>
          <a:prstGeom prst="rect">
            <a:avLst/>
          </a:prstGeom>
        </p:spPr>
        <p:txBody>
          <a:bodyPr/>
          <a:lstStyle/>
          <a:p>
            <a:pPr marL="0" indent="0" algn="just">
              <a:lnSpc>
                <a:spcPct val="80000"/>
              </a:lnSpc>
              <a:spcBef>
                <a:spcPts val="300"/>
              </a:spcBef>
              <a:buSzTx/>
              <a:buNone/>
              <a:defRPr sz="1300"/>
            </a:pPr>
            <a:r>
              <a:t>So in addition to social media, thanks to tech entrepreneurs, we can now enjoy things like:</a:t>
            </a:r>
          </a:p>
          <a:p>
            <a:pPr algn="just">
              <a:lnSpc>
                <a:spcPct val="80000"/>
              </a:lnSpc>
              <a:spcBef>
                <a:spcPts val="300"/>
              </a:spcBef>
              <a:defRPr sz="1300"/>
            </a:pPr>
            <a:r>
              <a:t>Access to global markets and talent – through things like elance and alibaba</a:t>
            </a:r>
          </a:p>
          <a:p>
            <a:pPr algn="just">
              <a:lnSpc>
                <a:spcPct val="80000"/>
              </a:lnSpc>
              <a:spcBef>
                <a:spcPts val="300"/>
              </a:spcBef>
              <a:defRPr sz="1300"/>
            </a:pPr>
            <a:r>
              <a:t>Work on the go wherever we are – through things like smartphones and tablets</a:t>
            </a:r>
          </a:p>
          <a:p>
            <a:pPr algn="just">
              <a:lnSpc>
                <a:spcPct val="80000"/>
              </a:lnSpc>
              <a:spcBef>
                <a:spcPts val="300"/>
              </a:spcBef>
              <a:defRPr sz="1300"/>
            </a:pPr>
            <a:r>
              <a:t>The ability to connect around the globe with ease – through things like Skype and Google Hangouts; and</a:t>
            </a:r>
          </a:p>
          <a:p>
            <a:pPr algn="just">
              <a:lnSpc>
                <a:spcPct val="80000"/>
              </a:lnSpc>
              <a:spcBef>
                <a:spcPts val="300"/>
              </a:spcBef>
              <a:defRPr sz="1300"/>
            </a:pPr>
            <a:r>
              <a:t>Enjoy process efficiency better than ever before – through things like Basecamp and Evernote.</a:t>
            </a:r>
          </a:p>
          <a:p>
            <a:pPr marL="0" indent="0" algn="just">
              <a:lnSpc>
                <a:spcPct val="80000"/>
              </a:lnSpc>
              <a:spcBef>
                <a:spcPts val="300"/>
              </a:spcBef>
              <a:buSzTx/>
              <a:buNone/>
              <a:defRPr sz="1300"/>
            </a:pPr>
          </a:p>
          <a:p>
            <a:pPr marL="0" indent="0" algn="just">
              <a:lnSpc>
                <a:spcPct val="80000"/>
              </a:lnSpc>
              <a:spcBef>
                <a:spcPts val="300"/>
              </a:spcBef>
              <a:buSzTx/>
              <a:buNone/>
              <a:defRPr sz="1300"/>
            </a:pPr>
            <a:r>
              <a:t>As a result of all of this, not only do we get amazing tech-businesses, but we also see impact in other industries too.</a:t>
            </a:r>
          </a:p>
          <a:p>
            <a:pPr marL="0" indent="0" algn="just">
              <a:lnSpc>
                <a:spcPct val="80000"/>
              </a:lnSpc>
              <a:spcBef>
                <a:spcPts val="300"/>
              </a:spcBef>
              <a:buSzTx/>
              <a:buNone/>
              <a:defRPr sz="1300"/>
            </a:pPr>
          </a:p>
          <a:p>
            <a:pPr marL="0" indent="0" algn="just">
              <a:lnSpc>
                <a:spcPct val="80000"/>
              </a:lnSpc>
              <a:spcBef>
                <a:spcPts val="300"/>
              </a:spcBef>
              <a:buSzTx/>
              <a:buNone/>
              <a:defRPr sz="1300"/>
            </a:pPr>
            <a:r>
              <a:t>Like Zara for example. Thanks to the tech platforms they utilise, they can design, manufacture, ship and sell new fashion ranges around the globe, in as little as 2 weeks.  And on the other end of the spectrum, medical tech-entrepreneurs help children manage their Cystic Fibrosis by playing video games in which their breathing is the controller!</a:t>
            </a:r>
          </a:p>
          <a:p>
            <a:pPr marL="0" indent="0" algn="just">
              <a:lnSpc>
                <a:spcPct val="80000"/>
              </a:lnSpc>
              <a:spcBef>
                <a:spcPts val="300"/>
              </a:spcBef>
              <a:buSzTx/>
              <a:buNone/>
              <a:defRPr sz="1300"/>
            </a:pPr>
            <a:br/>
            <a:r>
              <a:t>In instances like this, tech entrepreneurship can be seen as an </a:t>
            </a:r>
            <a:r>
              <a:rPr i="1"/>
              <a:t>enabler</a:t>
            </a:r>
            <a:r>
              <a:t> for other sectors to innovate – which is an equally important benefit of tech ventures.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itle 4"/>
          <p:cNvSpPr txBox="1"/>
          <p:nvPr>
            <p:ph type="title"/>
          </p:nvPr>
        </p:nvSpPr>
        <p:spPr>
          <a:prstGeom prst="rect">
            <a:avLst/>
          </a:prstGeom>
        </p:spPr>
        <p:txBody>
          <a:bodyPr/>
          <a:lstStyle/>
          <a:p>
            <a:pPr/>
            <a:r>
              <a:t>What is Tech Entrepreneurship?</a:t>
            </a:r>
          </a:p>
        </p:txBody>
      </p:sp>
      <p:sp>
        <p:nvSpPr>
          <p:cNvPr id="54" name="Content Placeholder 5"/>
          <p:cNvSpPr txBox="1"/>
          <p:nvPr>
            <p:ph type="body" idx="1"/>
          </p:nvPr>
        </p:nvSpPr>
        <p:spPr>
          <a:xfrm>
            <a:off x="457200" y="1200150"/>
            <a:ext cx="8229600" cy="3632908"/>
          </a:xfrm>
          <a:prstGeom prst="rect">
            <a:avLst/>
          </a:prstGeom>
        </p:spPr>
        <p:txBody>
          <a:bodyPr/>
          <a:lstStyle/>
          <a:p>
            <a:pPr marL="0" indent="0">
              <a:buSzTx/>
              <a:buNone/>
            </a:pPr>
            <a:r>
              <a:t>Well, It’s just like ‘normal’ entrepreneurship, except with a particular focus on opportunities that require, or become amplified by, technology. </a:t>
            </a:r>
          </a:p>
          <a:p>
            <a:pPr lvl="1" marL="0" indent="457200" algn="just">
              <a:buSzTx/>
              <a:buNone/>
            </a:pPr>
          </a:p>
          <a:p>
            <a:pPr marL="0" indent="0" algn="just">
              <a:buSzTx/>
              <a:buNone/>
            </a:pPr>
            <a:r>
              <a:t>So this means that tech entrepreneurs spot and identify opportunities in much the same way as others, and essentially go about developing solutions in much the same way too. The big difference is that they utilise and rely on their unique ‘tech’ skillsets to create their competitive advantage.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Title 1"/>
          <p:cNvSpPr txBox="1"/>
          <p:nvPr>
            <p:ph type="title"/>
          </p:nvPr>
        </p:nvSpPr>
        <p:spPr>
          <a:prstGeom prst="rect">
            <a:avLst/>
          </a:prstGeom>
        </p:spPr>
        <p:txBody>
          <a:bodyPr/>
          <a:lstStyle/>
          <a:p>
            <a:pPr/>
            <a:r>
              <a:t>High-Tech Ventures</a:t>
            </a:r>
          </a:p>
        </p:txBody>
      </p:sp>
      <p:sp>
        <p:nvSpPr>
          <p:cNvPr id="57" name="Content Placeholder 4"/>
          <p:cNvSpPr txBox="1"/>
          <p:nvPr>
            <p:ph type="body" idx="1"/>
          </p:nvPr>
        </p:nvSpPr>
        <p:spPr>
          <a:xfrm>
            <a:off x="457200" y="1200150"/>
            <a:ext cx="8229600" cy="3632908"/>
          </a:xfrm>
          <a:prstGeom prst="rect">
            <a:avLst/>
          </a:prstGeom>
        </p:spPr>
        <p:txBody>
          <a:bodyPr/>
          <a:lstStyle/>
          <a:p>
            <a:pPr marL="0" indent="0" algn="just">
              <a:spcBef>
                <a:spcPts val="300"/>
              </a:spcBef>
              <a:buSzTx/>
              <a:buNone/>
              <a:defRPr sz="1600"/>
            </a:pPr>
            <a:r>
              <a:t>Another concept that you’ll come across, is “high-tech” ventures. </a:t>
            </a:r>
          </a:p>
          <a:p>
            <a:pPr marL="285750" indent="-285750" algn="just">
              <a:spcBef>
                <a:spcPts val="300"/>
              </a:spcBef>
              <a:buFontTx/>
              <a:buChar char="❖"/>
              <a:defRPr sz="1600"/>
            </a:pPr>
          </a:p>
          <a:p>
            <a:pPr marL="0" indent="0">
              <a:spcBef>
                <a:spcPts val="300"/>
              </a:spcBef>
              <a:buSzTx/>
              <a:buNone/>
              <a:defRPr sz="1600"/>
            </a:pPr>
            <a:r>
              <a:t>They’re essentially the same thing and like so many other concepts, are hard to specifically define. However, common threads see that high-tech ventures involve:</a:t>
            </a:r>
          </a:p>
          <a:p>
            <a:pPr marL="285750">
              <a:spcBef>
                <a:spcPts val="300"/>
              </a:spcBef>
              <a:defRPr sz="1600"/>
            </a:pPr>
            <a:r>
              <a:t> Heavy investment in R&amp;D, aka Research and Development – which is the pursuit of creating new solutions, products and possibilities,</a:t>
            </a:r>
          </a:p>
          <a:p>
            <a:pPr marL="285750">
              <a:spcBef>
                <a:spcPts val="300"/>
              </a:spcBef>
              <a:defRPr sz="1600"/>
            </a:pPr>
            <a:r>
              <a:t>Heavy employment of engineers and scientists, to support the R&amp;D; </a:t>
            </a:r>
          </a:p>
          <a:p>
            <a:pPr marL="285750">
              <a:spcBef>
                <a:spcPts val="300"/>
              </a:spcBef>
              <a:defRPr sz="1600"/>
            </a:pPr>
            <a:r>
              <a:t>Innovative and technologically advanced products – as a result of the R&amp;D: and</a:t>
            </a:r>
          </a:p>
          <a:p>
            <a:pPr marL="285750">
              <a:spcBef>
                <a:spcPts val="300"/>
              </a:spcBef>
              <a:defRPr sz="1600"/>
            </a:pPr>
            <a:r>
              <a:t>Short product development cycles – to stay ahead of the game!</a:t>
            </a:r>
          </a:p>
          <a:p>
            <a:pPr marL="285750" indent="-285750">
              <a:spcBef>
                <a:spcPts val="300"/>
              </a:spcBef>
              <a:defRPr sz="1600"/>
            </a:pPr>
          </a:p>
          <a:p>
            <a:pPr marL="0" indent="0">
              <a:spcBef>
                <a:spcPts val="300"/>
              </a:spcBef>
              <a:buSzTx/>
              <a:buNone/>
              <a:defRPr sz="1600"/>
            </a:pPr>
            <a:r>
              <a:t>Tech ventures are fast-paced and ambitious. They fuse tech expertise with entrepreneurial spirit, to create awesome new possibilities.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 name="Title 1"/>
          <p:cNvSpPr txBox="1"/>
          <p:nvPr>
            <p:ph type="title"/>
          </p:nvPr>
        </p:nvSpPr>
        <p:spPr>
          <a:prstGeom prst="rect">
            <a:avLst/>
          </a:prstGeom>
        </p:spPr>
        <p:txBody>
          <a:bodyPr/>
          <a:lstStyle>
            <a:lvl1pPr>
              <a:defRPr sz="3200"/>
            </a:lvl1pPr>
          </a:lstStyle>
          <a:p>
            <a:pPr/>
            <a:r>
              <a:t>Elements of Successful Tech Entrepreneurship</a:t>
            </a:r>
          </a:p>
        </p:txBody>
      </p:sp>
      <p:sp>
        <p:nvSpPr>
          <p:cNvPr id="60" name="Content Placeholder 1"/>
          <p:cNvSpPr txBox="1"/>
          <p:nvPr>
            <p:ph type="body" idx="1"/>
          </p:nvPr>
        </p:nvSpPr>
        <p:spPr>
          <a:xfrm>
            <a:off x="457200" y="1200150"/>
            <a:ext cx="8229600" cy="3632908"/>
          </a:xfrm>
          <a:prstGeom prst="rect">
            <a:avLst/>
          </a:prstGeom>
        </p:spPr>
        <p:txBody>
          <a:bodyPr/>
          <a:lstStyle/>
          <a:p>
            <a:pPr marL="0" indent="57150">
              <a:buSzTx/>
              <a:buNone/>
            </a:pPr>
            <a:r>
              <a:t>First of all, there’s the need to create Unique Value – these days, many people strive to solve the same problem or offer the same value. As a result, particularly in the tech field, creating truly unique value is of critical importance. As soon as a customer sees something they’ve seen before, it’s probably not long before they’re not your customer anymore!</a:t>
            </a:r>
            <a:endParaRPr sz="1600"/>
          </a:p>
          <a:p>
            <a:pPr lvl="1" marL="0" indent="57150">
              <a:spcBef>
                <a:spcPts val="300"/>
              </a:spcBef>
              <a:buSzTx/>
              <a:buNone/>
              <a:defRPr sz="2000"/>
            </a:pPr>
          </a:p>
          <a:p>
            <a:pPr lvl="1" marL="0" indent="57150">
              <a:buSzTx/>
              <a:buNone/>
            </a:pPr>
            <a:r>
              <a:t>You’ve also got to stay up-to-date – not only with the way that value can be delivered, but also the type of value that’s actually demanded. There’s no point doing something unique that is outdated, or something that’s outdated, that is unique! And when it comes to tech, it’s not long before things are outdated  - so this is a particularly important consideration.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Title 1"/>
          <p:cNvSpPr txBox="1"/>
          <p:nvPr>
            <p:ph type="title"/>
          </p:nvPr>
        </p:nvSpPr>
        <p:spPr>
          <a:xfrm>
            <a:off x="457199" y="205978"/>
            <a:ext cx="8422217" cy="857251"/>
          </a:xfrm>
          <a:prstGeom prst="rect">
            <a:avLst/>
          </a:prstGeom>
        </p:spPr>
        <p:txBody>
          <a:bodyPr/>
          <a:lstStyle>
            <a:lvl1pPr>
              <a:defRPr sz="3200"/>
            </a:lvl1pPr>
          </a:lstStyle>
          <a:p>
            <a:pPr/>
            <a:r>
              <a:t>Elements of Successful Tech Entrepreneurship</a:t>
            </a:r>
          </a:p>
        </p:txBody>
      </p:sp>
      <p:sp>
        <p:nvSpPr>
          <p:cNvPr id="63" name="Content Placeholder 2"/>
          <p:cNvSpPr txBox="1"/>
          <p:nvPr>
            <p:ph type="body" idx="1"/>
          </p:nvPr>
        </p:nvSpPr>
        <p:spPr>
          <a:xfrm>
            <a:off x="457200" y="1200150"/>
            <a:ext cx="8229600" cy="3632908"/>
          </a:xfrm>
          <a:prstGeom prst="rect">
            <a:avLst/>
          </a:prstGeom>
        </p:spPr>
        <p:txBody>
          <a:bodyPr/>
          <a:lstStyle/>
          <a:p>
            <a:pPr lvl="1" marL="0" indent="57150">
              <a:buSzTx/>
              <a:buNone/>
              <a:defRPr sz="1700"/>
            </a:pPr>
            <a:r>
              <a:t>You’ve got to get the right people – because more so than other ventures, tech ventures need talented people who not only have the technical smarts to create the unique, ever-evolving value required, but also a commitment to growing companies – and this is a hard balance to find.</a:t>
            </a:r>
          </a:p>
          <a:p>
            <a:pPr lvl="1" marL="0" indent="57150">
              <a:buSzTx/>
              <a:buNone/>
              <a:defRPr sz="1700"/>
            </a:pPr>
          </a:p>
          <a:p>
            <a:pPr lvl="1" marL="0" indent="57150">
              <a:buSzTx/>
              <a:buNone/>
              <a:defRPr sz="1700"/>
            </a:pPr>
            <a:r>
              <a:t>And another thing, is the size of the target market - thanks to all the requirements of staying unique and up-to-date with uniquely talented and clever people, tech-ventures can be very expensive. Therefore, having the ability to sell to hundreds of thousands of customers, or even millions of customers, is important – especially when investors are involved. Thankfully, unlike services, for example, the cost of serving one thousand customers and the cost of serving one MILLION customers, isn’t very different, which means profit grows rapidly and makes all the risk and investment worthwhile… Assuming you do a good job.</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ucere Powerpoint">
  <a:themeElements>
    <a:clrScheme name="Ducere Powerpoint">
      <a:dk1>
        <a:srgbClr val="000000"/>
      </a:dk1>
      <a:lt1>
        <a:srgbClr val="EEECE1"/>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ucere Powerpoint">
      <a:majorFont>
        <a:latin typeface="Calibri"/>
        <a:ea typeface="Calibri"/>
        <a:cs typeface="Calibri"/>
      </a:majorFont>
      <a:minorFont>
        <a:latin typeface="Helvetica"/>
        <a:ea typeface="Helvetica"/>
        <a:cs typeface="Helvetica"/>
      </a:minorFont>
    </a:fontScheme>
    <a:fmtScheme name="Ducere 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ucere Powerpoint">
  <a:themeElements>
    <a:clrScheme name="Ducere Powerpoin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ucere Powerpoint">
      <a:majorFont>
        <a:latin typeface="Calibri"/>
        <a:ea typeface="Calibri"/>
        <a:cs typeface="Calibri"/>
      </a:majorFont>
      <a:minorFont>
        <a:latin typeface="Helvetica"/>
        <a:ea typeface="Helvetica"/>
        <a:cs typeface="Helvetica"/>
      </a:minorFont>
    </a:fontScheme>
    <a:fmtScheme name="Ducere 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